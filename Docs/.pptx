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3657600" cy="6693408"/>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966960" y="164592"/>
            <a:ext cx="2221992" cy="6693408"/>
          </a:xfrm>
          <a:prstGeom prst="rect">
            <a:avLst/>
          </a:prstGeom>
          <a:solidFill>
            <a:srgbClr val="E2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43000"/>
            <a:ext cx="8595360" cy="1371600"/>
          </a:xfrm>
          <a:prstGeom prst="rect">
            <a:avLst/>
          </a:prstGeom>
          <a:noFill/>
        </p:spPr>
        <p:txBody>
          <a:bodyPr wrap="none">
            <a:spAutoFit/>
          </a:bodyPr>
          <a:lstStyle/>
          <a:p>
            <a:pPr>
              <a:spcAft>
                <a:spcPts val="0"/>
              </a:spcAft>
            </a:pPr>
            <a:r>
              <a:rPr sz="3400" b="1">
                <a:solidFill>
                  <a:srgbClr val="142B4C"/>
                </a:solidFill>
                <a:latin typeface="Aptos Display"/>
              </a:rPr>
              <a:t>DATABASE CLIENT-SERVER
MANAGEMENT SYSTEM</a:t>
            </a:r>
          </a:p>
        </p:txBody>
      </p:sp>
      <p:sp>
        <p:nvSpPr>
          <p:cNvPr id="7" name="TextBox 6"/>
          <p:cNvSpPr txBox="1"/>
          <p:nvPr/>
        </p:nvSpPr>
        <p:spPr>
          <a:xfrm>
            <a:off x="713232" y="2743200"/>
            <a:ext cx="8046720" cy="640080"/>
          </a:xfrm>
          <a:prstGeom prst="rect">
            <a:avLst/>
          </a:prstGeom>
          <a:noFill/>
        </p:spPr>
        <p:txBody>
          <a:bodyPr wrap="none">
            <a:spAutoFit/>
          </a:bodyPr>
          <a:lstStyle/>
          <a:p>
            <a:r>
              <a:rPr sz="1900">
                <a:solidFill>
                  <a:srgbClr val="2C65B0"/>
                </a:solidFill>
                <a:latin typeface="Aptos"/>
              </a:rPr>
              <a:t>Concurrent Student Database Management using C and Linux</a:t>
            </a:r>
          </a:p>
        </p:txBody>
      </p:sp>
      <p:sp>
        <p:nvSpPr>
          <p:cNvPr id="8" name="Rounded Rectangle 7"/>
          <p:cNvSpPr/>
          <p:nvPr/>
        </p:nvSpPr>
        <p:spPr>
          <a:xfrm>
            <a:off x="713232" y="3657600"/>
            <a:ext cx="2926080" cy="1234440"/>
          </a:xfrm>
          <a:prstGeom prst="roundRect">
            <a:avLst/>
          </a:prstGeom>
          <a:solidFill>
            <a:srgbClr val="E2EEFC"/>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 y="3657600"/>
            <a:ext cx="73152" cy="1234440"/>
          </a:xfrm>
          <a:prstGeom prst="rect">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03904"/>
            <a:ext cx="2560320" cy="320040"/>
          </a:xfrm>
          <a:prstGeom prst="rect">
            <a:avLst/>
          </a:prstGeom>
          <a:noFill/>
        </p:spPr>
        <p:txBody>
          <a:bodyPr wrap="none">
            <a:spAutoFit/>
          </a:bodyPr>
          <a:lstStyle/>
          <a:p>
            <a:r>
              <a:rPr sz="1500" b="1">
                <a:solidFill>
                  <a:srgbClr val="142B4C"/>
                </a:solidFill>
                <a:latin typeface="Aptos"/>
              </a:rPr>
              <a:t>Core Focus</a:t>
            </a:r>
          </a:p>
        </p:txBody>
      </p:sp>
      <p:sp>
        <p:nvSpPr>
          <p:cNvPr id="11" name="TextBox 10"/>
          <p:cNvSpPr txBox="1"/>
          <p:nvPr/>
        </p:nvSpPr>
        <p:spPr>
          <a:xfrm>
            <a:off x="914400" y="4206240"/>
            <a:ext cx="2560320" cy="548640"/>
          </a:xfrm>
          <a:prstGeom prst="rect">
            <a:avLst/>
          </a:prstGeom>
          <a:noFill/>
        </p:spPr>
        <p:txBody>
          <a:bodyPr wrap="square" lIns="0" rIns="0">
            <a:spAutoFit/>
          </a:bodyPr>
          <a:lstStyle/>
          <a:p>
            <a:r>
              <a:rPr sz="1200">
                <a:solidFill>
                  <a:srgbClr val="23272D"/>
                </a:solidFill>
                <a:latin typeface="Aptos"/>
              </a:rPr>
              <a:t>Client-server communication
and concurrent database access</a:t>
            </a:r>
          </a:p>
        </p:txBody>
      </p:sp>
      <p:sp>
        <p:nvSpPr>
          <p:cNvPr id="12" name="Rounded Rectangle 11"/>
          <p:cNvSpPr/>
          <p:nvPr/>
        </p:nvSpPr>
        <p:spPr>
          <a:xfrm>
            <a:off x="3886200" y="3657600"/>
            <a:ext cx="2926080" cy="1234440"/>
          </a:xfrm>
          <a:prstGeom prst="roundRect">
            <a:avLst/>
          </a:prstGeom>
          <a:solidFill>
            <a:srgbClr val="E1F4F2"/>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86200" y="3657600"/>
            <a:ext cx="73152" cy="1234440"/>
          </a:xfrm>
          <a:prstGeom prst="rect">
            <a:avLst/>
          </a:prstGeom>
          <a:solidFill>
            <a:srgbClr val="26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87368" y="3803904"/>
            <a:ext cx="2560320" cy="320040"/>
          </a:xfrm>
          <a:prstGeom prst="rect">
            <a:avLst/>
          </a:prstGeom>
          <a:noFill/>
        </p:spPr>
        <p:txBody>
          <a:bodyPr wrap="none">
            <a:spAutoFit/>
          </a:bodyPr>
          <a:lstStyle/>
          <a:p>
            <a:r>
              <a:rPr sz="1500" b="1">
                <a:solidFill>
                  <a:srgbClr val="142B4C"/>
                </a:solidFill>
                <a:latin typeface="Aptos"/>
              </a:rPr>
              <a:t>OS Concepts</a:t>
            </a:r>
          </a:p>
        </p:txBody>
      </p:sp>
      <p:sp>
        <p:nvSpPr>
          <p:cNvPr id="15" name="TextBox 14"/>
          <p:cNvSpPr txBox="1"/>
          <p:nvPr/>
        </p:nvSpPr>
        <p:spPr>
          <a:xfrm>
            <a:off x="4087368" y="4206240"/>
            <a:ext cx="2560320" cy="548640"/>
          </a:xfrm>
          <a:prstGeom prst="rect">
            <a:avLst/>
          </a:prstGeom>
          <a:noFill/>
        </p:spPr>
        <p:txBody>
          <a:bodyPr wrap="square" lIns="0" rIns="0">
            <a:spAutoFit/>
          </a:bodyPr>
          <a:lstStyle/>
          <a:p>
            <a:r>
              <a:rPr sz="1200">
                <a:solidFill>
                  <a:srgbClr val="23272D"/>
                </a:solidFill>
                <a:latin typeface="Aptos"/>
              </a:rPr>
              <a:t>Threads • mutexes • semaphores
queues • signals • mmap()</a:t>
            </a:r>
          </a:p>
        </p:txBody>
      </p:sp>
      <p:sp>
        <p:nvSpPr>
          <p:cNvPr id="16" name="Rounded Rectangle 15"/>
          <p:cNvSpPr/>
          <p:nvPr/>
        </p:nvSpPr>
        <p:spPr>
          <a:xfrm>
            <a:off x="7059168" y="3657600"/>
            <a:ext cx="2651760" cy="123444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657600"/>
            <a:ext cx="73152" cy="1234440"/>
          </a:xfrm>
          <a:prstGeom prst="rect">
            <a:avLst/>
          </a:prstGeom>
          <a:solidFill>
            <a:srgbClr val="DC8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803904"/>
            <a:ext cx="2286000" cy="320040"/>
          </a:xfrm>
          <a:prstGeom prst="rect">
            <a:avLst/>
          </a:prstGeom>
          <a:noFill/>
        </p:spPr>
        <p:txBody>
          <a:bodyPr wrap="none">
            <a:spAutoFit/>
          </a:bodyPr>
          <a:lstStyle/>
          <a:p>
            <a:r>
              <a:rPr sz="1500" b="1">
                <a:solidFill>
                  <a:srgbClr val="142B4C"/>
                </a:solidFill>
                <a:latin typeface="Aptos"/>
              </a:rPr>
              <a:t>Operations</a:t>
            </a:r>
          </a:p>
        </p:txBody>
      </p:sp>
      <p:sp>
        <p:nvSpPr>
          <p:cNvPr id="19" name="TextBox 18"/>
          <p:cNvSpPr txBox="1"/>
          <p:nvPr/>
        </p:nvSpPr>
        <p:spPr>
          <a:xfrm>
            <a:off x="7260336" y="4206240"/>
            <a:ext cx="2286000" cy="548640"/>
          </a:xfrm>
          <a:prstGeom prst="rect">
            <a:avLst/>
          </a:prstGeom>
          <a:noFill/>
        </p:spPr>
        <p:txBody>
          <a:bodyPr wrap="square" lIns="0" rIns="0">
            <a:spAutoFit/>
          </a:bodyPr>
          <a:lstStyle/>
          <a:p>
            <a:r>
              <a:rPr sz="1200">
                <a:solidFill>
                  <a:srgbClr val="23272D"/>
                </a:solidFill>
                <a:latin typeface="Aptos"/>
              </a:rPr>
              <a:t>Insert • Search
Update • Delete</a:t>
            </a:r>
          </a:p>
        </p:txBody>
      </p:sp>
      <p:sp>
        <p:nvSpPr>
          <p:cNvPr id="20" name="TextBox 19"/>
          <p:cNvSpPr txBox="1"/>
          <p:nvPr/>
        </p:nvSpPr>
        <p:spPr>
          <a:xfrm>
            <a:off x="731520" y="5806440"/>
            <a:ext cx="8046720" cy="411480"/>
          </a:xfrm>
          <a:prstGeom prst="rect">
            <a:avLst/>
          </a:prstGeom>
          <a:noFill/>
        </p:spPr>
        <p:txBody>
          <a:bodyPr wrap="none" anchor="ctr">
            <a:spAutoFit/>
          </a:bodyPr>
          <a:lstStyle/>
          <a:p>
            <a:pPr algn="ctr"/>
            <a:r>
              <a:rPr sz="1500" b="1">
                <a:solidFill>
                  <a:srgbClr val="5C646E"/>
                </a:solidFill>
                <a:latin typeface="Aptos"/>
              </a:rPr>
              <a:t>C / POSIX • TCP Sockets • Linux</a:t>
            </a:r>
          </a:p>
        </p:txBody>
      </p:sp>
      <p:sp>
        <p:nvSpPr>
          <p:cNvPr id="21" name="Rectangle 20"/>
          <p:cNvSpPr/>
          <p:nvPr/>
        </p:nvSpPr>
        <p:spPr>
          <a:xfrm>
            <a:off x="594360" y="6537960"/>
            <a:ext cx="10972800" cy="18288"/>
          </a:xfrm>
          <a:prstGeom prst="rect">
            <a:avLst/>
          </a:prstGeom>
          <a:solidFill>
            <a:srgbClr val="D7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89920" y="6565392"/>
            <a:ext cx="731520" cy="182880"/>
          </a:xfrm>
          <a:prstGeom prst="rect">
            <a:avLst/>
          </a:prstGeom>
          <a:noFill/>
        </p:spPr>
        <p:txBody>
          <a:bodyPr wrap="none">
            <a:spAutoFit/>
          </a:bodyPr>
          <a:lstStyle/>
          <a:p>
            <a:pPr algn="r"/>
            <a:r>
              <a:rPr sz="900">
                <a:solidFill>
                  <a:srgbClr val="5C646E"/>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972800" cy="594360"/>
          </a:xfrm>
          <a:prstGeom prst="rect">
            <a:avLst/>
          </a:prstGeom>
          <a:noFill/>
        </p:spPr>
        <p:txBody>
          <a:bodyPr wrap="none">
            <a:spAutoFit/>
          </a:bodyPr>
          <a:lstStyle/>
          <a:p>
            <a:r>
              <a:rPr sz="2700" b="1">
                <a:solidFill>
                  <a:srgbClr val="142B4C"/>
                </a:solidFill>
                <a:latin typeface="Aptos Display"/>
              </a:rPr>
              <a:t>Project Overview</a:t>
            </a:r>
          </a:p>
        </p:txBody>
      </p:sp>
      <p:sp>
        <p:nvSpPr>
          <p:cNvPr id="5" name="TextBox 4"/>
          <p:cNvSpPr txBox="1"/>
          <p:nvPr/>
        </p:nvSpPr>
        <p:spPr>
          <a:xfrm>
            <a:off x="621792" y="896112"/>
            <a:ext cx="10789920" cy="365760"/>
          </a:xfrm>
          <a:prstGeom prst="rect">
            <a:avLst/>
          </a:prstGeom>
          <a:noFill/>
        </p:spPr>
        <p:txBody>
          <a:bodyPr wrap="none">
            <a:spAutoFit/>
          </a:bodyPr>
          <a:lstStyle/>
          <a:p>
            <a:r>
              <a:rPr sz="1200">
                <a:solidFill>
                  <a:srgbClr val="5C646E"/>
                </a:solidFill>
                <a:latin typeface="Aptos"/>
              </a:rPr>
              <a:t>A centralized, concurrent student database server for multiple faculty and administrative clients.</a:t>
            </a:r>
          </a:p>
        </p:txBody>
      </p:sp>
      <p:sp>
        <p:nvSpPr>
          <p:cNvPr id="6" name="Rounded Rectangle 5"/>
          <p:cNvSpPr/>
          <p:nvPr/>
        </p:nvSpPr>
        <p:spPr>
          <a:xfrm>
            <a:off x="640080" y="1325880"/>
            <a:ext cx="3474720" cy="132588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325880"/>
            <a:ext cx="73152" cy="1325880"/>
          </a:xfrm>
          <a:prstGeom prst="rect">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472184"/>
            <a:ext cx="3108960" cy="320040"/>
          </a:xfrm>
          <a:prstGeom prst="rect">
            <a:avLst/>
          </a:prstGeom>
          <a:noFill/>
        </p:spPr>
        <p:txBody>
          <a:bodyPr wrap="none">
            <a:spAutoFit/>
          </a:bodyPr>
          <a:lstStyle/>
          <a:p>
            <a:r>
              <a:rPr sz="1600" b="1">
                <a:solidFill>
                  <a:srgbClr val="142B4C"/>
                </a:solidFill>
                <a:latin typeface="Aptos"/>
              </a:rPr>
              <a:t>System Purpose</a:t>
            </a:r>
          </a:p>
        </p:txBody>
      </p:sp>
      <p:sp>
        <p:nvSpPr>
          <p:cNvPr id="9" name="TextBox 8"/>
          <p:cNvSpPr txBox="1"/>
          <p:nvPr/>
        </p:nvSpPr>
        <p:spPr>
          <a:xfrm>
            <a:off x="841247" y="1874519"/>
            <a:ext cx="3108960" cy="640080"/>
          </a:xfrm>
          <a:prstGeom prst="rect">
            <a:avLst/>
          </a:prstGeom>
          <a:noFill/>
        </p:spPr>
        <p:txBody>
          <a:bodyPr wrap="square" lIns="0" rIns="0">
            <a:spAutoFit/>
          </a:bodyPr>
          <a:lstStyle/>
          <a:p>
            <a:r>
              <a:rPr sz="1200">
                <a:solidFill>
                  <a:srgbClr val="23272D"/>
                </a:solidFill>
                <a:latin typeface="Aptos"/>
              </a:rPr>
              <a:t>Provides a centralized service for storing and retrieving student information, marks, attendance, and course records through network-connected clients.</a:t>
            </a:r>
          </a:p>
        </p:txBody>
      </p:sp>
      <p:sp>
        <p:nvSpPr>
          <p:cNvPr id="10" name="Rounded Rectangle 9"/>
          <p:cNvSpPr/>
          <p:nvPr/>
        </p:nvSpPr>
        <p:spPr>
          <a:xfrm>
            <a:off x="4343400" y="1325880"/>
            <a:ext cx="3474720" cy="132588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325880"/>
            <a:ext cx="73152" cy="1325880"/>
          </a:xfrm>
          <a:prstGeom prst="rect">
            <a:avLst/>
          </a:prstGeom>
          <a:solidFill>
            <a:srgbClr val="26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472184"/>
            <a:ext cx="3108960" cy="320040"/>
          </a:xfrm>
          <a:prstGeom prst="rect">
            <a:avLst/>
          </a:prstGeom>
          <a:noFill/>
        </p:spPr>
        <p:txBody>
          <a:bodyPr wrap="none">
            <a:spAutoFit/>
          </a:bodyPr>
          <a:lstStyle/>
          <a:p>
            <a:r>
              <a:rPr sz="1600" b="1">
                <a:solidFill>
                  <a:srgbClr val="142B4C"/>
                </a:solidFill>
                <a:latin typeface="Aptos"/>
              </a:rPr>
              <a:t>Communication Model</a:t>
            </a:r>
          </a:p>
        </p:txBody>
      </p:sp>
      <p:sp>
        <p:nvSpPr>
          <p:cNvPr id="13" name="TextBox 12"/>
          <p:cNvSpPr txBox="1"/>
          <p:nvPr/>
        </p:nvSpPr>
        <p:spPr>
          <a:xfrm>
            <a:off x="4544568" y="1874519"/>
            <a:ext cx="3108960" cy="640080"/>
          </a:xfrm>
          <a:prstGeom prst="rect">
            <a:avLst/>
          </a:prstGeom>
          <a:noFill/>
        </p:spPr>
        <p:txBody>
          <a:bodyPr wrap="square" lIns="0" rIns="0">
            <a:spAutoFit/>
          </a:bodyPr>
          <a:lstStyle/>
          <a:p>
            <a:r>
              <a:rPr sz="1200">
                <a:solidFill>
                  <a:srgbClr val="23272D"/>
                </a:solidFill>
                <a:latin typeface="Aptos"/>
              </a:rPr>
              <a:t>Clients connect to a TCP server. Requests are placed into a shared queue and processed by worker threads.</a:t>
            </a:r>
          </a:p>
        </p:txBody>
      </p:sp>
      <p:sp>
        <p:nvSpPr>
          <p:cNvPr id="14" name="Rounded Rectangle 13"/>
          <p:cNvSpPr/>
          <p:nvPr/>
        </p:nvSpPr>
        <p:spPr>
          <a:xfrm>
            <a:off x="8046720" y="1325880"/>
            <a:ext cx="3474720" cy="132588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325880"/>
            <a:ext cx="73152" cy="1325880"/>
          </a:xfrm>
          <a:prstGeom prst="rect">
            <a:avLst/>
          </a:prstGeom>
          <a:solidFill>
            <a:srgbClr val="DC8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472184"/>
            <a:ext cx="3108960" cy="320040"/>
          </a:xfrm>
          <a:prstGeom prst="rect">
            <a:avLst/>
          </a:prstGeom>
          <a:noFill/>
        </p:spPr>
        <p:txBody>
          <a:bodyPr wrap="none">
            <a:spAutoFit/>
          </a:bodyPr>
          <a:lstStyle/>
          <a:p>
            <a:r>
              <a:rPr sz="1600" b="1">
                <a:solidFill>
                  <a:srgbClr val="142B4C"/>
                </a:solidFill>
                <a:latin typeface="Aptos"/>
              </a:rPr>
              <a:t>Database Model</a:t>
            </a:r>
          </a:p>
        </p:txBody>
      </p:sp>
      <p:sp>
        <p:nvSpPr>
          <p:cNvPr id="17" name="TextBox 16"/>
          <p:cNvSpPr txBox="1"/>
          <p:nvPr/>
        </p:nvSpPr>
        <p:spPr>
          <a:xfrm>
            <a:off x="8247888" y="1874519"/>
            <a:ext cx="3108960" cy="640080"/>
          </a:xfrm>
          <a:prstGeom prst="rect">
            <a:avLst/>
          </a:prstGeom>
          <a:noFill/>
        </p:spPr>
        <p:txBody>
          <a:bodyPr wrap="square" lIns="0" rIns="0">
            <a:spAutoFit/>
          </a:bodyPr>
          <a:lstStyle/>
          <a:p>
            <a:r>
              <a:rPr sz="1200">
                <a:solidFill>
                  <a:srgbClr val="23272D"/>
                </a:solidFill>
                <a:latin typeface="Aptos"/>
              </a:rPr>
              <a:t>A memory-mapped database file provides efficient access to frequently used records while preserving data on disk.</a:t>
            </a:r>
          </a:p>
        </p:txBody>
      </p:sp>
      <p:sp>
        <p:nvSpPr>
          <p:cNvPr id="18" name="TextBox 17"/>
          <p:cNvSpPr txBox="1"/>
          <p:nvPr/>
        </p:nvSpPr>
        <p:spPr>
          <a:xfrm>
            <a:off x="822960" y="3063240"/>
            <a:ext cx="10607040" cy="2697480"/>
          </a:xfrm>
          <a:prstGeom prst="rect">
            <a:avLst/>
          </a:prstGeom>
          <a:noFill/>
        </p:spPr>
        <p:txBody>
          <a:bodyPr wrap="square">
            <a:spAutoFit/>
          </a:bodyPr>
          <a:lstStyle/>
          <a:p>
            <a:pPr>
              <a:spcAft>
                <a:spcPts val="900"/>
              </a:spcAft>
              <a:defRPr sz="1600" b="0">
                <a:solidFill>
                  <a:srgbClr val="23272D"/>
                </a:solidFill>
                <a:latin typeface="Aptos"/>
              </a:defRPr>
            </a:pPr>
            <a:r>
              <a:t>Multiple clients can connect and issue database requests at the same time.</a:t>
            </a:r>
          </a:p>
          <a:p>
            <a:pPr>
              <a:spcAft>
                <a:spcPts val="900"/>
              </a:spcAft>
              <a:defRPr sz="1600" b="0">
                <a:solidFill>
                  <a:srgbClr val="23272D"/>
                </a:solidFill>
                <a:latin typeface="Aptos"/>
              </a:defRPr>
            </a:pPr>
            <a:r>
              <a:t>Worker threads process requests concurrently without creating a separate process for every request.</a:t>
            </a:r>
          </a:p>
          <a:p>
            <a:pPr>
              <a:spcAft>
                <a:spcPts val="900"/>
              </a:spcAft>
              <a:defRPr sz="1600" b="0">
                <a:solidFill>
                  <a:srgbClr val="23272D"/>
                </a:solidFill>
                <a:latin typeface="Aptos"/>
              </a:defRPr>
            </a:pPr>
            <a:r>
              <a:t>Shared queues coordinate work between network handlers and database workers.</a:t>
            </a:r>
          </a:p>
          <a:p>
            <a:pPr>
              <a:spcAft>
                <a:spcPts val="900"/>
              </a:spcAft>
              <a:defRPr sz="1600" b="0">
                <a:solidFill>
                  <a:srgbClr val="23272D"/>
                </a:solidFill>
                <a:latin typeface="Aptos"/>
              </a:defRPr>
            </a:pPr>
            <a:r>
              <a:t>Mutexes and semaphores prevent race conditions and protect shared resources.</a:t>
            </a:r>
          </a:p>
          <a:p>
            <a:pPr>
              <a:spcAft>
                <a:spcPts val="900"/>
              </a:spcAft>
              <a:defRPr sz="1600" b="0">
                <a:solidFill>
                  <a:srgbClr val="23272D"/>
                </a:solidFill>
                <a:latin typeface="Aptos"/>
              </a:defRPr>
            </a:pPr>
            <a:r>
              <a:t>Activity logging records important transactions and server events.</a:t>
            </a:r>
          </a:p>
          <a:p>
            <a:pPr>
              <a:spcAft>
                <a:spcPts val="900"/>
              </a:spcAft>
              <a:defRPr sz="1600" b="0">
                <a:solidFill>
                  <a:srgbClr val="23272D"/>
                </a:solidFill>
                <a:latin typeface="Aptos"/>
              </a:defRPr>
            </a:pPr>
            <a:r>
              <a:t>Signals support configuration reload and controlled shutdown.</a:t>
            </a:r>
          </a:p>
        </p:txBody>
      </p:sp>
      <p:sp>
        <p:nvSpPr>
          <p:cNvPr id="19" name="Rectangle 18"/>
          <p:cNvSpPr/>
          <p:nvPr/>
        </p:nvSpPr>
        <p:spPr>
          <a:xfrm>
            <a:off x="594360" y="6537960"/>
            <a:ext cx="10972800" cy="18288"/>
          </a:xfrm>
          <a:prstGeom prst="rect">
            <a:avLst/>
          </a:prstGeom>
          <a:solidFill>
            <a:srgbClr val="D7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89920" y="6565392"/>
            <a:ext cx="731520" cy="182880"/>
          </a:xfrm>
          <a:prstGeom prst="rect">
            <a:avLst/>
          </a:prstGeom>
          <a:noFill/>
        </p:spPr>
        <p:txBody>
          <a:bodyPr wrap="none">
            <a:spAutoFit/>
          </a:bodyPr>
          <a:lstStyle/>
          <a:p>
            <a:pPr algn="r"/>
            <a:r>
              <a:rPr sz="900">
                <a:solidFill>
                  <a:srgbClr val="5C646E"/>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972800" cy="594360"/>
          </a:xfrm>
          <a:prstGeom prst="rect">
            <a:avLst/>
          </a:prstGeom>
          <a:noFill/>
        </p:spPr>
        <p:txBody>
          <a:bodyPr wrap="none">
            <a:spAutoFit/>
          </a:bodyPr>
          <a:lstStyle/>
          <a:p>
            <a:r>
              <a:rPr sz="2700" b="1">
                <a:solidFill>
                  <a:srgbClr val="142B4C"/>
                </a:solidFill>
                <a:latin typeface="Aptos Display"/>
              </a:rPr>
              <a:t>Problem Statement</a:t>
            </a:r>
          </a:p>
        </p:txBody>
      </p:sp>
      <p:sp>
        <p:nvSpPr>
          <p:cNvPr id="5" name="TextBox 4"/>
          <p:cNvSpPr txBox="1"/>
          <p:nvPr/>
        </p:nvSpPr>
        <p:spPr>
          <a:xfrm>
            <a:off x="621792" y="896112"/>
            <a:ext cx="10789920" cy="365760"/>
          </a:xfrm>
          <a:prstGeom prst="rect">
            <a:avLst/>
          </a:prstGeom>
          <a:noFill/>
        </p:spPr>
        <p:txBody>
          <a:bodyPr wrap="none">
            <a:spAutoFit/>
          </a:bodyPr>
          <a:lstStyle/>
          <a:p>
            <a:r>
              <a:rPr sz="1200">
                <a:solidFill>
                  <a:srgbClr val="5C646E"/>
                </a:solidFill>
                <a:latin typeface="Aptos"/>
              </a:rPr>
              <a:t>Why concurrency and synchronization are necessary in a centralized student database.</a:t>
            </a:r>
          </a:p>
        </p:txBody>
      </p:sp>
      <p:sp>
        <p:nvSpPr>
          <p:cNvPr id="6" name="Rounded Rectangle 5"/>
          <p:cNvSpPr/>
          <p:nvPr/>
        </p:nvSpPr>
        <p:spPr>
          <a:xfrm>
            <a:off x="685800" y="1325880"/>
            <a:ext cx="5166360" cy="182880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325880"/>
            <a:ext cx="73152" cy="1828800"/>
          </a:xfrm>
          <a:prstGeom prst="rect">
            <a:avLst/>
          </a:prstGeom>
          <a:solidFill>
            <a:srgbClr val="DC8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472184"/>
            <a:ext cx="4800600" cy="320040"/>
          </a:xfrm>
          <a:prstGeom prst="rect">
            <a:avLst/>
          </a:prstGeom>
          <a:noFill/>
        </p:spPr>
        <p:txBody>
          <a:bodyPr wrap="none">
            <a:spAutoFit/>
          </a:bodyPr>
          <a:lstStyle/>
          <a:p>
            <a:r>
              <a:rPr sz="1700" b="1">
                <a:solidFill>
                  <a:srgbClr val="142B4C"/>
                </a:solidFill>
                <a:latin typeface="Aptos"/>
              </a:rPr>
              <a:t>The Challenge</a:t>
            </a:r>
          </a:p>
        </p:txBody>
      </p:sp>
      <p:sp>
        <p:nvSpPr>
          <p:cNvPr id="9" name="TextBox 8"/>
          <p:cNvSpPr txBox="1"/>
          <p:nvPr/>
        </p:nvSpPr>
        <p:spPr>
          <a:xfrm>
            <a:off x="886968" y="1874519"/>
            <a:ext cx="4800600" cy="1143000"/>
          </a:xfrm>
          <a:prstGeom prst="rect">
            <a:avLst/>
          </a:prstGeom>
          <a:noFill/>
        </p:spPr>
        <p:txBody>
          <a:bodyPr wrap="square" lIns="0" rIns="0">
            <a:spAutoFit/>
          </a:bodyPr>
          <a:lstStyle/>
          <a:p>
            <a:r>
              <a:rPr sz="1400">
                <a:solidFill>
                  <a:srgbClr val="23272D"/>
                </a:solidFill>
                <a:latin typeface="Aptos"/>
              </a:rPr>
              <a:t>A university database may be accessed simultaneously by many faculty members and administrators. Uncontrolled concurrent access can cause inconsistent updates, lost data, duplicate operations, or corrupted shared structures.</a:t>
            </a:r>
          </a:p>
        </p:txBody>
      </p:sp>
      <p:sp>
        <p:nvSpPr>
          <p:cNvPr id="10" name="Rounded Rectangle 9"/>
          <p:cNvSpPr/>
          <p:nvPr/>
        </p:nvSpPr>
        <p:spPr>
          <a:xfrm>
            <a:off x="6126480" y="1325880"/>
            <a:ext cx="5349240" cy="182880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325880"/>
            <a:ext cx="73152" cy="1828800"/>
          </a:xfrm>
          <a:prstGeom prst="rect">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1472184"/>
            <a:ext cx="4983479" cy="320040"/>
          </a:xfrm>
          <a:prstGeom prst="rect">
            <a:avLst/>
          </a:prstGeom>
          <a:noFill/>
        </p:spPr>
        <p:txBody>
          <a:bodyPr wrap="none">
            <a:spAutoFit/>
          </a:bodyPr>
          <a:lstStyle/>
          <a:p>
            <a:r>
              <a:rPr sz="1700" b="1">
                <a:solidFill>
                  <a:srgbClr val="142B4C"/>
                </a:solidFill>
                <a:latin typeface="Aptos"/>
              </a:rPr>
              <a:t>Required Solution</a:t>
            </a:r>
          </a:p>
        </p:txBody>
      </p:sp>
      <p:sp>
        <p:nvSpPr>
          <p:cNvPr id="13" name="TextBox 12"/>
          <p:cNvSpPr txBox="1"/>
          <p:nvPr/>
        </p:nvSpPr>
        <p:spPr>
          <a:xfrm>
            <a:off x="6327648" y="1874519"/>
            <a:ext cx="4983479" cy="1143000"/>
          </a:xfrm>
          <a:prstGeom prst="rect">
            <a:avLst/>
          </a:prstGeom>
          <a:noFill/>
        </p:spPr>
        <p:txBody>
          <a:bodyPr wrap="square" lIns="0" rIns="0">
            <a:spAutoFit/>
          </a:bodyPr>
          <a:lstStyle/>
          <a:p>
            <a:r>
              <a:rPr sz="1400">
                <a:solidFill>
                  <a:srgbClr val="23272D"/>
                </a:solidFill>
                <a:latin typeface="Aptos"/>
              </a:rPr>
              <a:t>The system must accept concurrent client requests while maintaining data integrity, coordinating shared resources, monitoring connections, and allowing the server to be safely reconfigured or shut down.</a:t>
            </a:r>
          </a:p>
        </p:txBody>
      </p:sp>
      <p:sp>
        <p:nvSpPr>
          <p:cNvPr id="14" name="Rounded Rectangle 13"/>
          <p:cNvSpPr/>
          <p:nvPr/>
        </p:nvSpPr>
        <p:spPr>
          <a:xfrm>
            <a:off x="685800" y="3520440"/>
            <a:ext cx="5166360" cy="1051560"/>
          </a:xfrm>
          <a:prstGeom prst="roundRect">
            <a:avLst/>
          </a:prstGeom>
          <a:solidFill>
            <a:srgbClr val="E2EEFC"/>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520440"/>
            <a:ext cx="73152" cy="1051560"/>
          </a:xfrm>
          <a:prstGeom prst="rect">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3666744"/>
            <a:ext cx="4800600" cy="320040"/>
          </a:xfrm>
          <a:prstGeom prst="rect">
            <a:avLst/>
          </a:prstGeom>
          <a:noFill/>
        </p:spPr>
        <p:txBody>
          <a:bodyPr wrap="none">
            <a:spAutoFit/>
          </a:bodyPr>
          <a:lstStyle/>
          <a:p>
            <a:r>
              <a:rPr sz="1400" b="1">
                <a:solidFill>
                  <a:srgbClr val="142B4C"/>
                </a:solidFill>
                <a:latin typeface="Aptos"/>
              </a:rPr>
              <a:t>Concurrent Requests</a:t>
            </a:r>
          </a:p>
        </p:txBody>
      </p:sp>
      <p:sp>
        <p:nvSpPr>
          <p:cNvPr id="17" name="TextBox 16"/>
          <p:cNvSpPr txBox="1"/>
          <p:nvPr/>
        </p:nvSpPr>
        <p:spPr>
          <a:xfrm>
            <a:off x="886968" y="4069080"/>
            <a:ext cx="4800600" cy="365759"/>
          </a:xfrm>
          <a:prstGeom prst="rect">
            <a:avLst/>
          </a:prstGeom>
          <a:noFill/>
        </p:spPr>
        <p:txBody>
          <a:bodyPr wrap="square" lIns="0" rIns="0">
            <a:spAutoFit/>
          </a:bodyPr>
          <a:lstStyle/>
          <a:p>
            <a:r>
              <a:rPr sz="1100">
                <a:solidFill>
                  <a:srgbClr val="23272D"/>
                </a:solidFill>
                <a:latin typeface="Aptos"/>
              </a:rPr>
              <a:t>Several clients may access the same records at once.</a:t>
            </a:r>
          </a:p>
        </p:txBody>
      </p:sp>
      <p:sp>
        <p:nvSpPr>
          <p:cNvPr id="18" name="Rounded Rectangle 17"/>
          <p:cNvSpPr/>
          <p:nvPr/>
        </p:nvSpPr>
        <p:spPr>
          <a:xfrm>
            <a:off x="6172200" y="3520440"/>
            <a:ext cx="5166360" cy="1051560"/>
          </a:xfrm>
          <a:prstGeom prst="roundRect">
            <a:avLst/>
          </a:prstGeom>
          <a:solidFill>
            <a:srgbClr val="E1F4F2"/>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520440"/>
            <a:ext cx="73152" cy="1051560"/>
          </a:xfrm>
          <a:prstGeom prst="rect">
            <a:avLst/>
          </a:prstGeom>
          <a:solidFill>
            <a:srgbClr val="26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666744"/>
            <a:ext cx="4800600" cy="320040"/>
          </a:xfrm>
          <a:prstGeom prst="rect">
            <a:avLst/>
          </a:prstGeom>
          <a:noFill/>
        </p:spPr>
        <p:txBody>
          <a:bodyPr wrap="none">
            <a:spAutoFit/>
          </a:bodyPr>
          <a:lstStyle/>
          <a:p>
            <a:r>
              <a:rPr sz="1400" b="1">
                <a:solidFill>
                  <a:srgbClr val="142B4C"/>
                </a:solidFill>
                <a:latin typeface="Aptos"/>
              </a:rPr>
              <a:t>Race Conditions</a:t>
            </a:r>
          </a:p>
        </p:txBody>
      </p:sp>
      <p:sp>
        <p:nvSpPr>
          <p:cNvPr id="21" name="TextBox 20"/>
          <p:cNvSpPr txBox="1"/>
          <p:nvPr/>
        </p:nvSpPr>
        <p:spPr>
          <a:xfrm>
            <a:off x="6373368" y="4069080"/>
            <a:ext cx="4800600" cy="365759"/>
          </a:xfrm>
          <a:prstGeom prst="rect">
            <a:avLst/>
          </a:prstGeom>
          <a:noFill/>
        </p:spPr>
        <p:txBody>
          <a:bodyPr wrap="square" lIns="0" rIns="0">
            <a:spAutoFit/>
          </a:bodyPr>
          <a:lstStyle/>
          <a:p>
            <a:r>
              <a:rPr sz="1100">
                <a:solidFill>
                  <a:srgbClr val="23272D"/>
                </a:solidFill>
                <a:latin typeface="Aptos"/>
              </a:rPr>
              <a:t>Unsynchronized updates can overwrite or corrupt shared data.</a:t>
            </a:r>
          </a:p>
        </p:txBody>
      </p:sp>
      <p:sp>
        <p:nvSpPr>
          <p:cNvPr id="22" name="Rounded Rectangle 21"/>
          <p:cNvSpPr/>
          <p:nvPr/>
        </p:nvSpPr>
        <p:spPr>
          <a:xfrm>
            <a:off x="685800" y="4846320"/>
            <a:ext cx="5166360" cy="1051560"/>
          </a:xfrm>
          <a:prstGeom prst="roundRect">
            <a:avLst/>
          </a:prstGeom>
          <a:solidFill>
            <a:srgbClr val="E2EEFC"/>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846320"/>
            <a:ext cx="73152" cy="1051560"/>
          </a:xfrm>
          <a:prstGeom prst="rect">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4992624"/>
            <a:ext cx="4800600" cy="320040"/>
          </a:xfrm>
          <a:prstGeom prst="rect">
            <a:avLst/>
          </a:prstGeom>
          <a:noFill/>
        </p:spPr>
        <p:txBody>
          <a:bodyPr wrap="none">
            <a:spAutoFit/>
          </a:bodyPr>
          <a:lstStyle/>
          <a:p>
            <a:r>
              <a:rPr sz="1400" b="1">
                <a:solidFill>
                  <a:srgbClr val="142B4C"/>
                </a:solidFill>
                <a:latin typeface="Aptos"/>
              </a:rPr>
              <a:t>Resource Sharing</a:t>
            </a:r>
          </a:p>
        </p:txBody>
      </p:sp>
      <p:sp>
        <p:nvSpPr>
          <p:cNvPr id="25" name="TextBox 24"/>
          <p:cNvSpPr txBox="1"/>
          <p:nvPr/>
        </p:nvSpPr>
        <p:spPr>
          <a:xfrm>
            <a:off x="886968" y="5394959"/>
            <a:ext cx="4800600" cy="365759"/>
          </a:xfrm>
          <a:prstGeom prst="rect">
            <a:avLst/>
          </a:prstGeom>
          <a:noFill/>
        </p:spPr>
        <p:txBody>
          <a:bodyPr wrap="square" lIns="0" rIns="0">
            <a:spAutoFit/>
          </a:bodyPr>
          <a:lstStyle/>
          <a:p>
            <a:r>
              <a:rPr sz="1100">
                <a:solidFill>
                  <a:srgbClr val="23272D"/>
                </a:solidFill>
                <a:latin typeface="Aptos"/>
              </a:rPr>
              <a:t>Queues, database memory and logs are shared by threads.</a:t>
            </a:r>
          </a:p>
        </p:txBody>
      </p:sp>
      <p:sp>
        <p:nvSpPr>
          <p:cNvPr id="26" name="Rounded Rectangle 25"/>
          <p:cNvSpPr/>
          <p:nvPr/>
        </p:nvSpPr>
        <p:spPr>
          <a:xfrm>
            <a:off x="6172200" y="4846320"/>
            <a:ext cx="5166360" cy="1051560"/>
          </a:xfrm>
          <a:prstGeom prst="roundRect">
            <a:avLst/>
          </a:prstGeom>
          <a:solidFill>
            <a:srgbClr val="E1F4F2"/>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4846320"/>
            <a:ext cx="73152" cy="1051560"/>
          </a:xfrm>
          <a:prstGeom prst="rect">
            <a:avLst/>
          </a:prstGeom>
          <a:solidFill>
            <a:srgbClr val="26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3368" y="4992624"/>
            <a:ext cx="4800600" cy="320040"/>
          </a:xfrm>
          <a:prstGeom prst="rect">
            <a:avLst/>
          </a:prstGeom>
          <a:noFill/>
        </p:spPr>
        <p:txBody>
          <a:bodyPr wrap="none">
            <a:spAutoFit/>
          </a:bodyPr>
          <a:lstStyle/>
          <a:p>
            <a:r>
              <a:rPr sz="1400" b="1">
                <a:solidFill>
                  <a:srgbClr val="142B4C"/>
                </a:solidFill>
                <a:latin typeface="Aptos"/>
              </a:rPr>
              <a:t>Reliability</a:t>
            </a:r>
          </a:p>
        </p:txBody>
      </p:sp>
      <p:sp>
        <p:nvSpPr>
          <p:cNvPr id="29" name="TextBox 28"/>
          <p:cNvSpPr txBox="1"/>
          <p:nvPr/>
        </p:nvSpPr>
        <p:spPr>
          <a:xfrm>
            <a:off x="6373368" y="5394959"/>
            <a:ext cx="4800600" cy="365759"/>
          </a:xfrm>
          <a:prstGeom prst="rect">
            <a:avLst/>
          </a:prstGeom>
          <a:noFill/>
        </p:spPr>
        <p:txBody>
          <a:bodyPr wrap="square" lIns="0" rIns="0">
            <a:spAutoFit/>
          </a:bodyPr>
          <a:lstStyle/>
          <a:p>
            <a:r>
              <a:rPr sz="1100">
                <a:solidFill>
                  <a:srgbClr val="23272D"/>
                </a:solidFill>
                <a:latin typeface="Aptos"/>
              </a:rPr>
              <a:t>The server needs controlled shutdown, logging and monitoring.</a:t>
            </a:r>
          </a:p>
        </p:txBody>
      </p:sp>
      <p:sp>
        <p:nvSpPr>
          <p:cNvPr id="30" name="Rectangle 29"/>
          <p:cNvSpPr/>
          <p:nvPr/>
        </p:nvSpPr>
        <p:spPr>
          <a:xfrm>
            <a:off x="594360" y="6537960"/>
            <a:ext cx="10972800" cy="18288"/>
          </a:xfrm>
          <a:prstGeom prst="rect">
            <a:avLst/>
          </a:prstGeom>
          <a:solidFill>
            <a:srgbClr val="D7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89920" y="6565392"/>
            <a:ext cx="731520" cy="182880"/>
          </a:xfrm>
          <a:prstGeom prst="rect">
            <a:avLst/>
          </a:prstGeom>
          <a:noFill/>
        </p:spPr>
        <p:txBody>
          <a:bodyPr wrap="none">
            <a:spAutoFit/>
          </a:bodyPr>
          <a:lstStyle/>
          <a:p>
            <a:pPr algn="r"/>
            <a:r>
              <a:rPr sz="900">
                <a:solidFill>
                  <a:srgbClr val="5C646E"/>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972800" cy="594360"/>
          </a:xfrm>
          <a:prstGeom prst="rect">
            <a:avLst/>
          </a:prstGeom>
          <a:noFill/>
        </p:spPr>
        <p:txBody>
          <a:bodyPr wrap="none">
            <a:spAutoFit/>
          </a:bodyPr>
          <a:lstStyle/>
          <a:p>
            <a:r>
              <a:rPr sz="2700" b="1">
                <a:solidFill>
                  <a:srgbClr val="142B4C"/>
                </a:solidFill>
                <a:latin typeface="Aptos Display"/>
              </a:rPr>
              <a:t>Abstract</a:t>
            </a:r>
          </a:p>
        </p:txBody>
      </p:sp>
      <p:sp>
        <p:nvSpPr>
          <p:cNvPr id="5" name="TextBox 4"/>
          <p:cNvSpPr txBox="1"/>
          <p:nvPr/>
        </p:nvSpPr>
        <p:spPr>
          <a:xfrm>
            <a:off x="621792" y="896112"/>
            <a:ext cx="10789920" cy="365760"/>
          </a:xfrm>
          <a:prstGeom prst="rect">
            <a:avLst/>
          </a:prstGeom>
          <a:noFill/>
        </p:spPr>
        <p:txBody>
          <a:bodyPr wrap="none">
            <a:spAutoFit/>
          </a:bodyPr>
          <a:lstStyle/>
          <a:p>
            <a:r>
              <a:rPr sz="1200">
                <a:solidFill>
                  <a:srgbClr val="5C646E"/>
                </a:solidFill>
                <a:latin typeface="Aptos"/>
              </a:rPr>
              <a:t>Project summary and technical approach.</a:t>
            </a:r>
          </a:p>
        </p:txBody>
      </p:sp>
      <p:sp>
        <p:nvSpPr>
          <p:cNvPr id="6" name="Rounded Rectangle 5"/>
          <p:cNvSpPr/>
          <p:nvPr/>
        </p:nvSpPr>
        <p:spPr>
          <a:xfrm>
            <a:off x="822960" y="1325880"/>
            <a:ext cx="10561320" cy="4480560"/>
          </a:xfrm>
          <a:prstGeom prst="roundRect">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691640"/>
            <a:ext cx="9921240" cy="3749039"/>
          </a:xfrm>
          <a:prstGeom prst="rect">
            <a:avLst/>
          </a:prstGeom>
          <a:noFill/>
        </p:spPr>
        <p:txBody>
          <a:bodyPr wrap="square" anchor="t">
            <a:spAutoFit/>
          </a:bodyPr>
          <a:lstStyle/>
          <a:p>
            <a:pPr>
              <a:spcAft>
                <a:spcPts val="0"/>
              </a:spcAft>
            </a:pPr>
            <a:r>
              <a:rPr sz="1700">
                <a:solidFill>
                  <a:srgbClr val="23272D"/>
                </a:solidFill>
                <a:latin typeface="Aptos"/>
              </a:rPr>
              <a:t>The Database Client-Server Management System is a Linux-based application developed in C to demonstrate concurrent client-server communication and database management. The system provides a centralized server that accepts requests from multiple clients over TCP sockets and processes them using POSIX worker threads. A shared request/response queue coordinates concurrent work, while mutexes and semaphores synchronize access to queues, database structures, and other shared resources. Student records can be inserted, searched, updated, and deleted. Memory mapping (mmap) is used for efficient access to frequently used database data. Transaction and server activity logs provide traceability, while POSIX signals support configuration reload and controlled shutdown. The server also monitors active connections and resource usage, demonstrating practical operating-system concepts in a real-world database service.</a:t>
            </a:r>
          </a:p>
        </p:txBody>
      </p:sp>
      <p:sp>
        <p:nvSpPr>
          <p:cNvPr id="8" name="TextBox 7"/>
          <p:cNvSpPr txBox="1"/>
          <p:nvPr/>
        </p:nvSpPr>
        <p:spPr>
          <a:xfrm>
            <a:off x="1097280" y="5989320"/>
            <a:ext cx="9966960" cy="365760"/>
          </a:xfrm>
          <a:prstGeom prst="rect">
            <a:avLst/>
          </a:prstGeom>
          <a:noFill/>
        </p:spPr>
        <p:txBody>
          <a:bodyPr wrap="none" anchor="ctr">
            <a:spAutoFit/>
          </a:bodyPr>
          <a:lstStyle/>
          <a:p>
            <a:pPr algn="ctr"/>
            <a:r>
              <a:rPr sz="1300" b="1">
                <a:solidFill>
                  <a:srgbClr val="2C65B0"/>
                </a:solidFill>
                <a:latin typeface="Aptos"/>
              </a:rPr>
              <a:t>TCP/IP   •   POSIX Threads   •   Mutex   •   Semaphore   •   mmap()   •   Signals</a:t>
            </a:r>
          </a:p>
        </p:txBody>
      </p:sp>
      <p:sp>
        <p:nvSpPr>
          <p:cNvPr id="9" name="Rectangle 8"/>
          <p:cNvSpPr/>
          <p:nvPr/>
        </p:nvSpPr>
        <p:spPr>
          <a:xfrm>
            <a:off x="594360" y="6537960"/>
            <a:ext cx="10972800" cy="18288"/>
          </a:xfrm>
          <a:prstGeom prst="rect">
            <a:avLst/>
          </a:prstGeom>
          <a:solidFill>
            <a:srgbClr val="D7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0" y="6565392"/>
            <a:ext cx="731520" cy="182880"/>
          </a:xfrm>
          <a:prstGeom prst="rect">
            <a:avLst/>
          </a:prstGeom>
          <a:noFill/>
        </p:spPr>
        <p:txBody>
          <a:bodyPr wrap="none">
            <a:spAutoFit/>
          </a:bodyPr>
          <a:lstStyle/>
          <a:p>
            <a:pPr algn="r"/>
            <a:r>
              <a:rPr sz="900">
                <a:solidFill>
                  <a:srgbClr val="5C646E"/>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972800" cy="594360"/>
          </a:xfrm>
          <a:prstGeom prst="rect">
            <a:avLst/>
          </a:prstGeom>
          <a:noFill/>
        </p:spPr>
        <p:txBody>
          <a:bodyPr wrap="none">
            <a:spAutoFit/>
          </a:bodyPr>
          <a:lstStyle/>
          <a:p>
            <a:r>
              <a:rPr sz="2700" b="1">
                <a:solidFill>
                  <a:srgbClr val="142B4C"/>
                </a:solidFill>
                <a:latin typeface="Aptos Display"/>
              </a:rPr>
              <a:t>Objectives</a:t>
            </a:r>
          </a:p>
        </p:txBody>
      </p:sp>
      <p:sp>
        <p:nvSpPr>
          <p:cNvPr id="5" name="TextBox 4"/>
          <p:cNvSpPr txBox="1"/>
          <p:nvPr/>
        </p:nvSpPr>
        <p:spPr>
          <a:xfrm>
            <a:off x="621792" y="896112"/>
            <a:ext cx="10789920" cy="365760"/>
          </a:xfrm>
          <a:prstGeom prst="rect">
            <a:avLst/>
          </a:prstGeom>
          <a:noFill/>
        </p:spPr>
        <p:txBody>
          <a:bodyPr wrap="none">
            <a:spAutoFit/>
          </a:bodyPr>
          <a:lstStyle/>
          <a:p>
            <a:r>
              <a:rPr sz="1200">
                <a:solidFill>
                  <a:srgbClr val="5C646E"/>
                </a:solidFill>
                <a:latin typeface="Aptos"/>
              </a:rPr>
              <a:t>Functional goals and operating-system concepts demonstrated by the project.</a:t>
            </a:r>
          </a:p>
        </p:txBody>
      </p:sp>
      <p:sp>
        <p:nvSpPr>
          <p:cNvPr id="6" name="Oval 5"/>
          <p:cNvSpPr/>
          <p:nvPr/>
        </p:nvSpPr>
        <p:spPr>
          <a:xfrm>
            <a:off x="685800" y="1389888"/>
            <a:ext cx="530352" cy="530352"/>
          </a:xfrm>
          <a:prstGeom prst="ellipse">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89888"/>
            <a:ext cx="530352" cy="530352"/>
          </a:xfrm>
          <a:prstGeom prst="rect">
            <a:avLst/>
          </a:prstGeom>
          <a:noFill/>
        </p:spPr>
        <p:txBody>
          <a:bodyPr wrap="none" anchor="ctr">
            <a:spAutoFit/>
          </a:bodyPr>
          <a:lstStyle/>
          <a:p>
            <a:pPr algn="ctr"/>
            <a:r>
              <a:rPr sz="1300" b="1">
                <a:solidFill>
                  <a:srgbClr val="FFFFFF"/>
                </a:solidFill>
                <a:latin typeface="Aptos"/>
              </a:rPr>
              <a:t>1</a:t>
            </a:r>
          </a:p>
        </p:txBody>
      </p:sp>
      <p:sp>
        <p:nvSpPr>
          <p:cNvPr id="8" name="Rounded Rectangle 7"/>
          <p:cNvSpPr/>
          <p:nvPr/>
        </p:nvSpPr>
        <p:spPr>
          <a:xfrm>
            <a:off x="1371600" y="1280160"/>
            <a:ext cx="4800600" cy="123444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371600" y="1280160"/>
            <a:ext cx="73152" cy="1234440"/>
          </a:xfrm>
          <a:prstGeom prst="rect">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72768" y="1426463"/>
            <a:ext cx="4434840" cy="320040"/>
          </a:xfrm>
          <a:prstGeom prst="rect">
            <a:avLst/>
          </a:prstGeom>
          <a:noFill/>
        </p:spPr>
        <p:txBody>
          <a:bodyPr wrap="none">
            <a:spAutoFit/>
          </a:bodyPr>
          <a:lstStyle/>
          <a:p>
            <a:r>
              <a:rPr sz="1500" b="1">
                <a:solidFill>
                  <a:srgbClr val="142B4C"/>
                </a:solidFill>
                <a:latin typeface="Aptos"/>
              </a:rPr>
              <a:t>Concurrent Client Handling</a:t>
            </a:r>
          </a:p>
        </p:txBody>
      </p:sp>
      <p:sp>
        <p:nvSpPr>
          <p:cNvPr id="11" name="TextBox 10"/>
          <p:cNvSpPr txBox="1"/>
          <p:nvPr/>
        </p:nvSpPr>
        <p:spPr>
          <a:xfrm>
            <a:off x="1572768" y="1828800"/>
            <a:ext cx="4434840" cy="548640"/>
          </a:xfrm>
          <a:prstGeom prst="rect">
            <a:avLst/>
          </a:prstGeom>
          <a:noFill/>
        </p:spPr>
        <p:txBody>
          <a:bodyPr wrap="square" lIns="0" rIns="0">
            <a:spAutoFit/>
          </a:bodyPr>
          <a:lstStyle/>
          <a:p>
            <a:r>
              <a:rPr sz="1150">
                <a:solidFill>
                  <a:srgbClr val="23272D"/>
                </a:solidFill>
                <a:latin typeface="Aptos"/>
              </a:rPr>
              <a:t>Accept and serve multiple clients simultaneously using TCP sockets and worker threads.</a:t>
            </a:r>
          </a:p>
        </p:txBody>
      </p:sp>
      <p:sp>
        <p:nvSpPr>
          <p:cNvPr id="12" name="Oval 11"/>
          <p:cNvSpPr/>
          <p:nvPr/>
        </p:nvSpPr>
        <p:spPr>
          <a:xfrm>
            <a:off x="6217920" y="1389888"/>
            <a:ext cx="530352" cy="530352"/>
          </a:xfrm>
          <a:prstGeom prst="ellipse">
            <a:avLst/>
          </a:prstGeom>
          <a:solidFill>
            <a:srgbClr val="26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389888"/>
            <a:ext cx="530352" cy="530352"/>
          </a:xfrm>
          <a:prstGeom prst="rect">
            <a:avLst/>
          </a:prstGeom>
          <a:noFill/>
        </p:spPr>
        <p:txBody>
          <a:bodyPr wrap="none" anchor="ctr">
            <a:spAutoFit/>
          </a:bodyPr>
          <a:lstStyle/>
          <a:p>
            <a:pPr algn="ctr"/>
            <a:r>
              <a:rPr sz="1300" b="1">
                <a:solidFill>
                  <a:srgbClr val="FFFFFF"/>
                </a:solidFill>
                <a:latin typeface="Aptos"/>
              </a:rPr>
              <a:t>2</a:t>
            </a:r>
          </a:p>
        </p:txBody>
      </p:sp>
      <p:sp>
        <p:nvSpPr>
          <p:cNvPr id="14" name="Rounded Rectangle 13"/>
          <p:cNvSpPr/>
          <p:nvPr/>
        </p:nvSpPr>
        <p:spPr>
          <a:xfrm>
            <a:off x="6903720" y="1280160"/>
            <a:ext cx="4800600" cy="123444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03720" y="1280160"/>
            <a:ext cx="73152" cy="1234440"/>
          </a:xfrm>
          <a:prstGeom prst="rect">
            <a:avLst/>
          </a:prstGeom>
          <a:solidFill>
            <a:srgbClr val="26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04888" y="1426463"/>
            <a:ext cx="4434840" cy="320040"/>
          </a:xfrm>
          <a:prstGeom prst="rect">
            <a:avLst/>
          </a:prstGeom>
          <a:noFill/>
        </p:spPr>
        <p:txBody>
          <a:bodyPr wrap="none">
            <a:spAutoFit/>
          </a:bodyPr>
          <a:lstStyle/>
          <a:p>
            <a:r>
              <a:rPr sz="1500" b="1">
                <a:solidFill>
                  <a:srgbClr val="142B4C"/>
                </a:solidFill>
                <a:latin typeface="Aptos"/>
              </a:rPr>
              <a:t>Safe Synchronization</a:t>
            </a:r>
          </a:p>
        </p:txBody>
      </p:sp>
      <p:sp>
        <p:nvSpPr>
          <p:cNvPr id="17" name="TextBox 16"/>
          <p:cNvSpPr txBox="1"/>
          <p:nvPr/>
        </p:nvSpPr>
        <p:spPr>
          <a:xfrm>
            <a:off x="7104888" y="1828800"/>
            <a:ext cx="4434840" cy="548640"/>
          </a:xfrm>
          <a:prstGeom prst="rect">
            <a:avLst/>
          </a:prstGeom>
          <a:noFill/>
        </p:spPr>
        <p:txBody>
          <a:bodyPr wrap="square" lIns="0" rIns="0">
            <a:spAutoFit/>
          </a:bodyPr>
          <a:lstStyle/>
          <a:p>
            <a:r>
              <a:rPr sz="1150">
                <a:solidFill>
                  <a:srgbClr val="23272D"/>
                </a:solidFill>
                <a:latin typeface="Aptos"/>
              </a:rPr>
              <a:t>Use mutexes and semaphores to avoid race conditions and coordinate access to shared resources.</a:t>
            </a:r>
          </a:p>
        </p:txBody>
      </p:sp>
      <p:sp>
        <p:nvSpPr>
          <p:cNvPr id="18" name="Oval 17"/>
          <p:cNvSpPr/>
          <p:nvPr/>
        </p:nvSpPr>
        <p:spPr>
          <a:xfrm>
            <a:off x="685800" y="2962656"/>
            <a:ext cx="530352" cy="530352"/>
          </a:xfrm>
          <a:prstGeom prst="ellipse">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962656"/>
            <a:ext cx="530352" cy="530352"/>
          </a:xfrm>
          <a:prstGeom prst="rect">
            <a:avLst/>
          </a:prstGeom>
          <a:noFill/>
        </p:spPr>
        <p:txBody>
          <a:bodyPr wrap="none" anchor="ctr">
            <a:spAutoFit/>
          </a:bodyPr>
          <a:lstStyle/>
          <a:p>
            <a:pPr algn="ctr"/>
            <a:r>
              <a:rPr sz="1300" b="1">
                <a:solidFill>
                  <a:srgbClr val="FFFFFF"/>
                </a:solidFill>
                <a:latin typeface="Aptos"/>
              </a:rPr>
              <a:t>3</a:t>
            </a:r>
          </a:p>
        </p:txBody>
      </p:sp>
      <p:sp>
        <p:nvSpPr>
          <p:cNvPr id="20" name="Rounded Rectangle 19"/>
          <p:cNvSpPr/>
          <p:nvPr/>
        </p:nvSpPr>
        <p:spPr>
          <a:xfrm>
            <a:off x="1371600" y="2852928"/>
            <a:ext cx="4800600" cy="123444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71600" y="2852928"/>
            <a:ext cx="73152" cy="1234440"/>
          </a:xfrm>
          <a:prstGeom prst="rect">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2999232"/>
            <a:ext cx="4434840" cy="320040"/>
          </a:xfrm>
          <a:prstGeom prst="rect">
            <a:avLst/>
          </a:prstGeom>
          <a:noFill/>
        </p:spPr>
        <p:txBody>
          <a:bodyPr wrap="none">
            <a:spAutoFit/>
          </a:bodyPr>
          <a:lstStyle/>
          <a:p>
            <a:r>
              <a:rPr sz="1500" b="1">
                <a:solidFill>
                  <a:srgbClr val="142B4C"/>
                </a:solidFill>
                <a:latin typeface="Aptos"/>
              </a:rPr>
              <a:t>Database Operations</a:t>
            </a:r>
          </a:p>
        </p:txBody>
      </p:sp>
      <p:sp>
        <p:nvSpPr>
          <p:cNvPr id="23" name="TextBox 22"/>
          <p:cNvSpPr txBox="1"/>
          <p:nvPr/>
        </p:nvSpPr>
        <p:spPr>
          <a:xfrm>
            <a:off x="1572768" y="3401568"/>
            <a:ext cx="4434840" cy="548640"/>
          </a:xfrm>
          <a:prstGeom prst="rect">
            <a:avLst/>
          </a:prstGeom>
          <a:noFill/>
        </p:spPr>
        <p:txBody>
          <a:bodyPr wrap="square" lIns="0" rIns="0">
            <a:spAutoFit/>
          </a:bodyPr>
          <a:lstStyle/>
          <a:p>
            <a:r>
              <a:rPr sz="1150">
                <a:solidFill>
                  <a:srgbClr val="23272D"/>
                </a:solidFill>
                <a:latin typeface="Aptos"/>
              </a:rPr>
              <a:t>Support INSERT, SEARCH, UPDATE and DELETE operations on student records.</a:t>
            </a:r>
          </a:p>
        </p:txBody>
      </p:sp>
      <p:sp>
        <p:nvSpPr>
          <p:cNvPr id="24" name="Oval 23"/>
          <p:cNvSpPr/>
          <p:nvPr/>
        </p:nvSpPr>
        <p:spPr>
          <a:xfrm>
            <a:off x="6217920" y="2962656"/>
            <a:ext cx="530352" cy="530352"/>
          </a:xfrm>
          <a:prstGeom prst="ellipse">
            <a:avLst/>
          </a:prstGeom>
          <a:solidFill>
            <a:srgbClr val="26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2962656"/>
            <a:ext cx="530352" cy="530352"/>
          </a:xfrm>
          <a:prstGeom prst="rect">
            <a:avLst/>
          </a:prstGeom>
          <a:noFill/>
        </p:spPr>
        <p:txBody>
          <a:bodyPr wrap="none" anchor="ctr">
            <a:spAutoFit/>
          </a:bodyPr>
          <a:lstStyle/>
          <a:p>
            <a:pPr algn="ctr"/>
            <a:r>
              <a:rPr sz="1300" b="1">
                <a:solidFill>
                  <a:srgbClr val="FFFFFF"/>
                </a:solidFill>
                <a:latin typeface="Aptos"/>
              </a:rPr>
              <a:t>4</a:t>
            </a:r>
          </a:p>
        </p:txBody>
      </p:sp>
      <p:sp>
        <p:nvSpPr>
          <p:cNvPr id="26" name="Rounded Rectangle 25"/>
          <p:cNvSpPr/>
          <p:nvPr/>
        </p:nvSpPr>
        <p:spPr>
          <a:xfrm>
            <a:off x="6903720" y="2852928"/>
            <a:ext cx="4800600" cy="123444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03720" y="2852928"/>
            <a:ext cx="73152" cy="1234440"/>
          </a:xfrm>
          <a:prstGeom prst="rect">
            <a:avLst/>
          </a:prstGeom>
          <a:solidFill>
            <a:srgbClr val="26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04888" y="2999232"/>
            <a:ext cx="4434840" cy="320040"/>
          </a:xfrm>
          <a:prstGeom prst="rect">
            <a:avLst/>
          </a:prstGeom>
          <a:noFill/>
        </p:spPr>
        <p:txBody>
          <a:bodyPr wrap="none">
            <a:spAutoFit/>
          </a:bodyPr>
          <a:lstStyle/>
          <a:p>
            <a:r>
              <a:rPr sz="1500" b="1">
                <a:solidFill>
                  <a:srgbClr val="142B4C"/>
                </a:solidFill>
                <a:latin typeface="Aptos"/>
              </a:rPr>
              <a:t>Efficient Data Access</a:t>
            </a:r>
          </a:p>
        </p:txBody>
      </p:sp>
      <p:sp>
        <p:nvSpPr>
          <p:cNvPr id="29" name="TextBox 28"/>
          <p:cNvSpPr txBox="1"/>
          <p:nvPr/>
        </p:nvSpPr>
        <p:spPr>
          <a:xfrm>
            <a:off x="7104888" y="3401568"/>
            <a:ext cx="4434840" cy="548640"/>
          </a:xfrm>
          <a:prstGeom prst="rect">
            <a:avLst/>
          </a:prstGeom>
          <a:noFill/>
        </p:spPr>
        <p:txBody>
          <a:bodyPr wrap="square" lIns="0" rIns="0">
            <a:spAutoFit/>
          </a:bodyPr>
          <a:lstStyle/>
          <a:p>
            <a:r>
              <a:rPr sz="1150">
                <a:solidFill>
                  <a:srgbClr val="23272D"/>
                </a:solidFill>
                <a:latin typeface="Aptos"/>
              </a:rPr>
              <a:t>Use mmap() to map the database file into memory for efficient record access.</a:t>
            </a:r>
          </a:p>
        </p:txBody>
      </p:sp>
      <p:sp>
        <p:nvSpPr>
          <p:cNvPr id="30" name="Oval 29"/>
          <p:cNvSpPr/>
          <p:nvPr/>
        </p:nvSpPr>
        <p:spPr>
          <a:xfrm>
            <a:off x="685800" y="4535424"/>
            <a:ext cx="530352" cy="530352"/>
          </a:xfrm>
          <a:prstGeom prst="ellipse">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535424"/>
            <a:ext cx="530352" cy="530352"/>
          </a:xfrm>
          <a:prstGeom prst="rect">
            <a:avLst/>
          </a:prstGeom>
          <a:noFill/>
        </p:spPr>
        <p:txBody>
          <a:bodyPr wrap="none" anchor="ctr">
            <a:spAutoFit/>
          </a:bodyPr>
          <a:lstStyle/>
          <a:p>
            <a:pPr algn="ctr"/>
            <a:r>
              <a:rPr sz="1300" b="1">
                <a:solidFill>
                  <a:srgbClr val="FFFFFF"/>
                </a:solidFill>
                <a:latin typeface="Aptos"/>
              </a:rPr>
              <a:t>5</a:t>
            </a:r>
          </a:p>
        </p:txBody>
      </p:sp>
      <p:sp>
        <p:nvSpPr>
          <p:cNvPr id="32" name="Rounded Rectangle 31"/>
          <p:cNvSpPr/>
          <p:nvPr/>
        </p:nvSpPr>
        <p:spPr>
          <a:xfrm>
            <a:off x="1371600" y="4425696"/>
            <a:ext cx="4800600" cy="123444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371600" y="4425696"/>
            <a:ext cx="73152" cy="1234440"/>
          </a:xfrm>
          <a:prstGeom prst="rect">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72768" y="4572000"/>
            <a:ext cx="4434840" cy="320040"/>
          </a:xfrm>
          <a:prstGeom prst="rect">
            <a:avLst/>
          </a:prstGeom>
          <a:noFill/>
        </p:spPr>
        <p:txBody>
          <a:bodyPr wrap="none">
            <a:spAutoFit/>
          </a:bodyPr>
          <a:lstStyle/>
          <a:p>
            <a:r>
              <a:rPr sz="1500" b="1">
                <a:solidFill>
                  <a:srgbClr val="142B4C"/>
                </a:solidFill>
                <a:latin typeface="Aptos"/>
              </a:rPr>
              <a:t>Server Management</a:t>
            </a:r>
          </a:p>
        </p:txBody>
      </p:sp>
      <p:sp>
        <p:nvSpPr>
          <p:cNvPr id="35" name="TextBox 34"/>
          <p:cNvSpPr txBox="1"/>
          <p:nvPr/>
        </p:nvSpPr>
        <p:spPr>
          <a:xfrm>
            <a:off x="1572768" y="4974336"/>
            <a:ext cx="4434840" cy="548640"/>
          </a:xfrm>
          <a:prstGeom prst="rect">
            <a:avLst/>
          </a:prstGeom>
          <a:noFill/>
        </p:spPr>
        <p:txBody>
          <a:bodyPr wrap="square" lIns="0" rIns="0">
            <a:spAutoFit/>
          </a:bodyPr>
          <a:lstStyle/>
          <a:p>
            <a:r>
              <a:rPr sz="1150">
                <a:solidFill>
                  <a:srgbClr val="23272D"/>
                </a:solidFill>
                <a:latin typeface="Aptos"/>
              </a:rPr>
              <a:t>Maintain activity logs, monitor connections/resources, and support controlled shutdown.</a:t>
            </a:r>
          </a:p>
        </p:txBody>
      </p:sp>
      <p:sp>
        <p:nvSpPr>
          <p:cNvPr id="36" name="Oval 35"/>
          <p:cNvSpPr/>
          <p:nvPr/>
        </p:nvSpPr>
        <p:spPr>
          <a:xfrm>
            <a:off x="6217920" y="4535424"/>
            <a:ext cx="530352" cy="530352"/>
          </a:xfrm>
          <a:prstGeom prst="ellipse">
            <a:avLst/>
          </a:prstGeom>
          <a:solidFill>
            <a:srgbClr val="26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0" y="4535424"/>
            <a:ext cx="530352" cy="530352"/>
          </a:xfrm>
          <a:prstGeom prst="rect">
            <a:avLst/>
          </a:prstGeom>
          <a:noFill/>
        </p:spPr>
        <p:txBody>
          <a:bodyPr wrap="none" anchor="ctr">
            <a:spAutoFit/>
          </a:bodyPr>
          <a:lstStyle/>
          <a:p>
            <a:pPr algn="ctr"/>
            <a:r>
              <a:rPr sz="1300" b="1">
                <a:solidFill>
                  <a:srgbClr val="FFFFFF"/>
                </a:solidFill>
                <a:latin typeface="Aptos"/>
              </a:rPr>
              <a:t>6</a:t>
            </a:r>
          </a:p>
        </p:txBody>
      </p:sp>
      <p:sp>
        <p:nvSpPr>
          <p:cNvPr id="38" name="Rounded Rectangle 37"/>
          <p:cNvSpPr/>
          <p:nvPr/>
        </p:nvSpPr>
        <p:spPr>
          <a:xfrm>
            <a:off x="6903720" y="4425696"/>
            <a:ext cx="4800600" cy="123444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903720" y="4425696"/>
            <a:ext cx="73152" cy="1234440"/>
          </a:xfrm>
          <a:prstGeom prst="rect">
            <a:avLst/>
          </a:prstGeom>
          <a:solidFill>
            <a:srgbClr val="26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04888" y="4572000"/>
            <a:ext cx="4434840" cy="320040"/>
          </a:xfrm>
          <a:prstGeom prst="rect">
            <a:avLst/>
          </a:prstGeom>
          <a:noFill/>
        </p:spPr>
        <p:txBody>
          <a:bodyPr wrap="none">
            <a:spAutoFit/>
          </a:bodyPr>
          <a:lstStyle/>
          <a:p>
            <a:r>
              <a:rPr sz="1500" b="1">
                <a:solidFill>
                  <a:srgbClr val="142B4C"/>
                </a:solidFill>
                <a:latin typeface="Aptos"/>
              </a:rPr>
              <a:t>Signal-Based Control</a:t>
            </a:r>
          </a:p>
        </p:txBody>
      </p:sp>
      <p:sp>
        <p:nvSpPr>
          <p:cNvPr id="41" name="TextBox 40"/>
          <p:cNvSpPr txBox="1"/>
          <p:nvPr/>
        </p:nvSpPr>
        <p:spPr>
          <a:xfrm>
            <a:off x="7104888" y="4974336"/>
            <a:ext cx="4434840" cy="548640"/>
          </a:xfrm>
          <a:prstGeom prst="rect">
            <a:avLst/>
          </a:prstGeom>
          <a:noFill/>
        </p:spPr>
        <p:txBody>
          <a:bodyPr wrap="square" lIns="0" rIns="0">
            <a:spAutoFit/>
          </a:bodyPr>
          <a:lstStyle/>
          <a:p>
            <a:r>
              <a:rPr sz="1150">
                <a:solidFill>
                  <a:srgbClr val="23272D"/>
                </a:solidFill>
                <a:latin typeface="Aptos"/>
              </a:rPr>
              <a:t>Use signals such as SIGHUP for configuration reload and SIGINT/SIGTERM for shutdown.</a:t>
            </a:r>
          </a:p>
        </p:txBody>
      </p:sp>
      <p:sp>
        <p:nvSpPr>
          <p:cNvPr id="42" name="Rectangle 41"/>
          <p:cNvSpPr/>
          <p:nvPr/>
        </p:nvSpPr>
        <p:spPr>
          <a:xfrm>
            <a:off x="594360" y="6537960"/>
            <a:ext cx="10972800" cy="18288"/>
          </a:xfrm>
          <a:prstGeom prst="rect">
            <a:avLst/>
          </a:prstGeom>
          <a:solidFill>
            <a:srgbClr val="D7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789920" y="6565392"/>
            <a:ext cx="731520" cy="182880"/>
          </a:xfrm>
          <a:prstGeom prst="rect">
            <a:avLst/>
          </a:prstGeom>
          <a:noFill/>
        </p:spPr>
        <p:txBody>
          <a:bodyPr wrap="none">
            <a:spAutoFit/>
          </a:bodyPr>
          <a:lstStyle/>
          <a:p>
            <a:pPr algn="r"/>
            <a:r>
              <a:rPr sz="900">
                <a:solidFill>
                  <a:srgbClr val="5C646E"/>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972800" cy="594360"/>
          </a:xfrm>
          <a:prstGeom prst="rect">
            <a:avLst/>
          </a:prstGeom>
          <a:noFill/>
        </p:spPr>
        <p:txBody>
          <a:bodyPr wrap="none">
            <a:spAutoFit/>
          </a:bodyPr>
          <a:lstStyle/>
          <a:p>
            <a:r>
              <a:rPr sz="2700" b="1">
                <a:solidFill>
                  <a:srgbClr val="142B4C"/>
                </a:solidFill>
                <a:latin typeface="Aptos Display"/>
              </a:rPr>
              <a:t>System Architecture</a:t>
            </a:r>
          </a:p>
        </p:txBody>
      </p:sp>
      <p:sp>
        <p:nvSpPr>
          <p:cNvPr id="5" name="TextBox 4"/>
          <p:cNvSpPr txBox="1"/>
          <p:nvPr/>
        </p:nvSpPr>
        <p:spPr>
          <a:xfrm>
            <a:off x="621792" y="896112"/>
            <a:ext cx="10789920" cy="365760"/>
          </a:xfrm>
          <a:prstGeom prst="rect">
            <a:avLst/>
          </a:prstGeom>
          <a:noFill/>
        </p:spPr>
        <p:txBody>
          <a:bodyPr wrap="none">
            <a:spAutoFit/>
          </a:bodyPr>
          <a:lstStyle/>
          <a:p>
            <a:r>
              <a:rPr sz="1200">
                <a:solidFill>
                  <a:srgbClr val="5C646E"/>
                </a:solidFill>
                <a:latin typeface="Aptos"/>
              </a:rPr>
              <a:t>Request flow from clients to the concurrent server, database, and monitoring components.</a:t>
            </a:r>
          </a:p>
        </p:txBody>
      </p:sp>
      <p:sp>
        <p:nvSpPr>
          <p:cNvPr id="6" name="Rounded Rectangle 5"/>
          <p:cNvSpPr/>
          <p:nvPr/>
        </p:nvSpPr>
        <p:spPr>
          <a:xfrm>
            <a:off x="594360" y="1325880"/>
            <a:ext cx="1417320" cy="658368"/>
          </a:xfrm>
          <a:prstGeom prst="roundRect">
            <a:avLst/>
          </a:prstGeom>
          <a:solidFill>
            <a:srgbClr val="E2EEFC"/>
          </a:solidFill>
          <a:ln>
            <a:solidFill>
              <a:srgbClr val="2C65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25880"/>
            <a:ext cx="1417320" cy="658368"/>
          </a:xfrm>
          <a:prstGeom prst="rect">
            <a:avLst/>
          </a:prstGeom>
          <a:noFill/>
        </p:spPr>
        <p:txBody>
          <a:bodyPr wrap="none" anchor="ctr">
            <a:spAutoFit/>
          </a:bodyPr>
          <a:lstStyle/>
          <a:p>
            <a:pPr algn="ctr"/>
            <a:r>
              <a:rPr sz="1100" b="1">
                <a:solidFill>
                  <a:srgbClr val="142B4C"/>
                </a:solidFill>
                <a:latin typeface="Aptos"/>
              </a:rPr>
              <a:t>Faculty Client</a:t>
            </a:r>
          </a:p>
        </p:txBody>
      </p:sp>
      <p:sp>
        <p:nvSpPr>
          <p:cNvPr id="8" name="Rounded Rectangle 7"/>
          <p:cNvSpPr/>
          <p:nvPr/>
        </p:nvSpPr>
        <p:spPr>
          <a:xfrm>
            <a:off x="2286000" y="1325880"/>
            <a:ext cx="1417320" cy="658368"/>
          </a:xfrm>
          <a:prstGeom prst="roundRect">
            <a:avLst/>
          </a:prstGeom>
          <a:solidFill>
            <a:srgbClr val="E2EEFC"/>
          </a:solidFill>
          <a:ln>
            <a:solidFill>
              <a:srgbClr val="2C65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0" y="1325880"/>
            <a:ext cx="1417320" cy="658368"/>
          </a:xfrm>
          <a:prstGeom prst="rect">
            <a:avLst/>
          </a:prstGeom>
          <a:noFill/>
        </p:spPr>
        <p:txBody>
          <a:bodyPr wrap="none" anchor="ctr">
            <a:spAutoFit/>
          </a:bodyPr>
          <a:lstStyle/>
          <a:p>
            <a:pPr algn="ctr"/>
            <a:r>
              <a:rPr sz="1100" b="1">
                <a:solidFill>
                  <a:srgbClr val="142B4C"/>
                </a:solidFill>
                <a:latin typeface="Aptos"/>
              </a:rPr>
              <a:t>Admin Client</a:t>
            </a:r>
          </a:p>
        </p:txBody>
      </p:sp>
      <p:sp>
        <p:nvSpPr>
          <p:cNvPr id="10" name="Rounded Rectangle 9"/>
          <p:cNvSpPr/>
          <p:nvPr/>
        </p:nvSpPr>
        <p:spPr>
          <a:xfrm>
            <a:off x="3977640" y="1325880"/>
            <a:ext cx="1417320" cy="658368"/>
          </a:xfrm>
          <a:prstGeom prst="roundRect">
            <a:avLst/>
          </a:prstGeom>
          <a:solidFill>
            <a:srgbClr val="E2EEFC"/>
          </a:solidFill>
          <a:ln>
            <a:solidFill>
              <a:srgbClr val="2C65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77640" y="1325880"/>
            <a:ext cx="1417320" cy="658368"/>
          </a:xfrm>
          <a:prstGeom prst="rect">
            <a:avLst/>
          </a:prstGeom>
          <a:noFill/>
        </p:spPr>
        <p:txBody>
          <a:bodyPr wrap="none" anchor="ctr">
            <a:spAutoFit/>
          </a:bodyPr>
          <a:lstStyle/>
          <a:p>
            <a:pPr algn="ctr"/>
            <a:r>
              <a:rPr sz="1100" b="1">
                <a:solidFill>
                  <a:srgbClr val="142B4C"/>
                </a:solidFill>
                <a:latin typeface="Aptos"/>
              </a:rPr>
              <a:t>Other Client</a:t>
            </a:r>
          </a:p>
        </p:txBody>
      </p:sp>
      <p:cxnSp>
        <p:nvCxnSpPr>
          <p:cNvPr id="12" name="Connector 11"/>
          <p:cNvCxnSpPr/>
          <p:nvPr/>
        </p:nvCxnSpPr>
        <p:spPr>
          <a:xfrm>
            <a:off x="1307592" y="1993392"/>
            <a:ext cx="4773168" cy="338328"/>
          </a:xfrm>
          <a:prstGeom prst="line">
            <a:avLst/>
          </a:prstGeom>
          <a:ln w="25400">
            <a:solidFill>
              <a:srgbClr val="2C65B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999232" y="1993392"/>
            <a:ext cx="3081528" cy="338328"/>
          </a:xfrm>
          <a:prstGeom prst="line">
            <a:avLst/>
          </a:prstGeom>
          <a:ln w="25400">
            <a:solidFill>
              <a:srgbClr val="2C65B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690872" y="1993392"/>
            <a:ext cx="1389888" cy="338328"/>
          </a:xfrm>
          <a:prstGeom prst="line">
            <a:avLst/>
          </a:prstGeom>
          <a:ln w="25400">
            <a:solidFill>
              <a:srgbClr val="2C65B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0" y="2057400"/>
            <a:ext cx="6080760" cy="3520440"/>
          </a:xfrm>
          <a:prstGeom prst="roundRect">
            <a:avLst/>
          </a:prstGeom>
          <a:solidFill>
            <a:srgbClr val="FFFFFF"/>
          </a:solidFill>
          <a:ln w="25400">
            <a:solidFill>
              <a:srgbClr val="142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06440" y="2148840"/>
            <a:ext cx="5440680" cy="347472"/>
          </a:xfrm>
          <a:prstGeom prst="rect">
            <a:avLst/>
          </a:prstGeom>
          <a:noFill/>
        </p:spPr>
        <p:txBody>
          <a:bodyPr wrap="none" anchor="ctr">
            <a:spAutoFit/>
          </a:bodyPr>
          <a:lstStyle/>
          <a:p>
            <a:pPr algn="ctr"/>
            <a:r>
              <a:rPr sz="1500" b="1">
                <a:solidFill>
                  <a:srgbClr val="142B4C"/>
                </a:solidFill>
                <a:latin typeface="Aptos"/>
              </a:rPr>
              <a:t>MULTI-THREADED DATABASE SERVER</a:t>
            </a:r>
          </a:p>
        </p:txBody>
      </p:sp>
      <p:sp>
        <p:nvSpPr>
          <p:cNvPr id="17" name="Rounded Rectangle 16"/>
          <p:cNvSpPr/>
          <p:nvPr/>
        </p:nvSpPr>
        <p:spPr>
          <a:xfrm>
            <a:off x="5806440" y="2633472"/>
            <a:ext cx="2514600" cy="658368"/>
          </a:xfrm>
          <a:prstGeom prst="roundRect">
            <a:avLst/>
          </a:prstGeom>
          <a:solidFill>
            <a:srgbClr val="E2EEFC"/>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06440" y="2633472"/>
            <a:ext cx="73152" cy="658368"/>
          </a:xfrm>
          <a:prstGeom prst="rect">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07607" y="2779776"/>
            <a:ext cx="2148840" cy="320040"/>
          </a:xfrm>
          <a:prstGeom prst="rect">
            <a:avLst/>
          </a:prstGeom>
          <a:noFill/>
        </p:spPr>
        <p:txBody>
          <a:bodyPr wrap="none">
            <a:spAutoFit/>
          </a:bodyPr>
          <a:lstStyle/>
          <a:p>
            <a:r>
              <a:rPr sz="100" b="1">
                <a:solidFill>
                  <a:srgbClr val="142B4C"/>
                </a:solidFill>
                <a:latin typeface="Aptos"/>
              </a:rPr>
              <a:t/>
            </a:r>
          </a:p>
        </p:txBody>
      </p:sp>
      <p:sp>
        <p:nvSpPr>
          <p:cNvPr id="20" name="TextBox 19"/>
          <p:cNvSpPr txBox="1"/>
          <p:nvPr/>
        </p:nvSpPr>
        <p:spPr>
          <a:xfrm>
            <a:off x="6007607" y="3182112"/>
            <a:ext cx="2148840" cy="-27432"/>
          </a:xfrm>
          <a:prstGeom prst="rect">
            <a:avLst/>
          </a:prstGeom>
          <a:noFill/>
        </p:spPr>
        <p:txBody>
          <a:bodyPr wrap="square" lIns="0" rIns="0">
            <a:spAutoFit/>
          </a:bodyPr>
          <a:lstStyle/>
          <a:p>
            <a:r>
              <a:rPr sz="1100">
                <a:solidFill>
                  <a:srgbClr val="23272D"/>
                </a:solidFill>
                <a:latin typeface="Aptos"/>
              </a:rPr>
              <a:t>TCP Socket
Listener</a:t>
            </a:r>
          </a:p>
        </p:txBody>
      </p:sp>
      <p:sp>
        <p:nvSpPr>
          <p:cNvPr id="21" name="Rounded Rectangle 20"/>
          <p:cNvSpPr/>
          <p:nvPr/>
        </p:nvSpPr>
        <p:spPr>
          <a:xfrm>
            <a:off x="8549640" y="2633472"/>
            <a:ext cx="2514600" cy="658368"/>
          </a:xfrm>
          <a:prstGeom prst="roundRect">
            <a:avLst/>
          </a:prstGeom>
          <a:solidFill>
            <a:srgbClr val="E1F4F2"/>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49640" y="2633472"/>
            <a:ext cx="73152" cy="658368"/>
          </a:xfrm>
          <a:prstGeom prst="rect">
            <a:avLst/>
          </a:prstGeom>
          <a:solidFill>
            <a:srgbClr val="26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50808" y="2779776"/>
            <a:ext cx="2148840" cy="320040"/>
          </a:xfrm>
          <a:prstGeom prst="rect">
            <a:avLst/>
          </a:prstGeom>
          <a:noFill/>
        </p:spPr>
        <p:txBody>
          <a:bodyPr wrap="none">
            <a:spAutoFit/>
          </a:bodyPr>
          <a:lstStyle/>
          <a:p>
            <a:r>
              <a:rPr sz="100" b="1">
                <a:solidFill>
                  <a:srgbClr val="142B4C"/>
                </a:solidFill>
                <a:latin typeface="Aptos"/>
              </a:rPr>
              <a:t/>
            </a:r>
          </a:p>
        </p:txBody>
      </p:sp>
      <p:sp>
        <p:nvSpPr>
          <p:cNvPr id="24" name="TextBox 23"/>
          <p:cNvSpPr txBox="1"/>
          <p:nvPr/>
        </p:nvSpPr>
        <p:spPr>
          <a:xfrm>
            <a:off x="8750808" y="3182112"/>
            <a:ext cx="2148840" cy="-27432"/>
          </a:xfrm>
          <a:prstGeom prst="rect">
            <a:avLst/>
          </a:prstGeom>
          <a:noFill/>
        </p:spPr>
        <p:txBody>
          <a:bodyPr wrap="square" lIns="0" rIns="0">
            <a:spAutoFit/>
          </a:bodyPr>
          <a:lstStyle/>
          <a:p>
            <a:r>
              <a:rPr sz="1100">
                <a:solidFill>
                  <a:srgbClr val="23272D"/>
                </a:solidFill>
                <a:latin typeface="Aptos"/>
              </a:rPr>
              <a:t>Client Handler /
Request Queue</a:t>
            </a:r>
          </a:p>
        </p:txBody>
      </p:sp>
      <p:sp>
        <p:nvSpPr>
          <p:cNvPr id="25" name="Rounded Rectangle 24"/>
          <p:cNvSpPr/>
          <p:nvPr/>
        </p:nvSpPr>
        <p:spPr>
          <a:xfrm>
            <a:off x="5806440" y="3520440"/>
            <a:ext cx="2514600" cy="658368"/>
          </a:xfrm>
          <a:prstGeom prst="roundRect">
            <a:avLst/>
          </a:prstGeom>
          <a:solidFill>
            <a:srgbClr val="E1F4F2"/>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06440" y="3520440"/>
            <a:ext cx="73152" cy="658368"/>
          </a:xfrm>
          <a:prstGeom prst="rect">
            <a:avLst/>
          </a:prstGeom>
          <a:solidFill>
            <a:srgbClr val="26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07607" y="3666744"/>
            <a:ext cx="2148840" cy="320040"/>
          </a:xfrm>
          <a:prstGeom prst="rect">
            <a:avLst/>
          </a:prstGeom>
          <a:noFill/>
        </p:spPr>
        <p:txBody>
          <a:bodyPr wrap="none">
            <a:spAutoFit/>
          </a:bodyPr>
          <a:lstStyle/>
          <a:p>
            <a:r>
              <a:rPr sz="100" b="1">
                <a:solidFill>
                  <a:srgbClr val="142B4C"/>
                </a:solidFill>
                <a:latin typeface="Aptos"/>
              </a:rPr>
              <a:t/>
            </a:r>
          </a:p>
        </p:txBody>
      </p:sp>
      <p:sp>
        <p:nvSpPr>
          <p:cNvPr id="28" name="TextBox 27"/>
          <p:cNvSpPr txBox="1"/>
          <p:nvPr/>
        </p:nvSpPr>
        <p:spPr>
          <a:xfrm>
            <a:off x="6007607" y="4069080"/>
            <a:ext cx="2148840" cy="-27432"/>
          </a:xfrm>
          <a:prstGeom prst="rect">
            <a:avLst/>
          </a:prstGeom>
          <a:noFill/>
        </p:spPr>
        <p:txBody>
          <a:bodyPr wrap="square" lIns="0" rIns="0">
            <a:spAutoFit/>
          </a:bodyPr>
          <a:lstStyle/>
          <a:p>
            <a:r>
              <a:rPr sz="1100">
                <a:solidFill>
                  <a:srgbClr val="23272D"/>
                </a:solidFill>
                <a:latin typeface="Aptos"/>
              </a:rPr>
              <a:t>Worker Thread
Pool</a:t>
            </a:r>
          </a:p>
        </p:txBody>
      </p:sp>
      <p:sp>
        <p:nvSpPr>
          <p:cNvPr id="29" name="Rounded Rectangle 28"/>
          <p:cNvSpPr/>
          <p:nvPr/>
        </p:nvSpPr>
        <p:spPr>
          <a:xfrm>
            <a:off x="8549640" y="3520440"/>
            <a:ext cx="2514600" cy="658368"/>
          </a:xfrm>
          <a:prstGeom prst="roundRect">
            <a:avLst/>
          </a:prstGeom>
          <a:solidFill>
            <a:srgbClr val="E2EEFC"/>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549640" y="3520440"/>
            <a:ext cx="73152" cy="658368"/>
          </a:xfrm>
          <a:prstGeom prst="rect">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50808" y="3666744"/>
            <a:ext cx="2148840" cy="320040"/>
          </a:xfrm>
          <a:prstGeom prst="rect">
            <a:avLst/>
          </a:prstGeom>
          <a:noFill/>
        </p:spPr>
        <p:txBody>
          <a:bodyPr wrap="none">
            <a:spAutoFit/>
          </a:bodyPr>
          <a:lstStyle/>
          <a:p>
            <a:r>
              <a:rPr sz="100" b="1">
                <a:solidFill>
                  <a:srgbClr val="142B4C"/>
                </a:solidFill>
                <a:latin typeface="Aptos"/>
              </a:rPr>
              <a:t/>
            </a:r>
          </a:p>
        </p:txBody>
      </p:sp>
      <p:sp>
        <p:nvSpPr>
          <p:cNvPr id="32" name="TextBox 31"/>
          <p:cNvSpPr txBox="1"/>
          <p:nvPr/>
        </p:nvSpPr>
        <p:spPr>
          <a:xfrm>
            <a:off x="8750808" y="4069080"/>
            <a:ext cx="2148840" cy="-27432"/>
          </a:xfrm>
          <a:prstGeom prst="rect">
            <a:avLst/>
          </a:prstGeom>
          <a:noFill/>
        </p:spPr>
        <p:txBody>
          <a:bodyPr wrap="square" lIns="0" rIns="0">
            <a:spAutoFit/>
          </a:bodyPr>
          <a:lstStyle/>
          <a:p>
            <a:r>
              <a:rPr sz="1100">
                <a:solidFill>
                  <a:srgbClr val="23272D"/>
                </a:solidFill>
                <a:latin typeface="Aptos"/>
              </a:rPr>
              <a:t>Mutex + Semaphore
Synchronization</a:t>
            </a:r>
          </a:p>
        </p:txBody>
      </p:sp>
      <p:sp>
        <p:nvSpPr>
          <p:cNvPr id="33" name="Rounded Rectangle 32"/>
          <p:cNvSpPr/>
          <p:nvPr/>
        </p:nvSpPr>
        <p:spPr>
          <a:xfrm>
            <a:off x="5806440" y="4407408"/>
            <a:ext cx="2514600" cy="658368"/>
          </a:xfrm>
          <a:prstGeom prst="roundRect">
            <a:avLst/>
          </a:prstGeom>
          <a:solidFill>
            <a:srgbClr val="FAF3E5"/>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806440" y="4407408"/>
            <a:ext cx="73152" cy="658368"/>
          </a:xfrm>
          <a:prstGeom prst="rect">
            <a:avLst/>
          </a:prstGeom>
          <a:solidFill>
            <a:srgbClr val="DC8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07607" y="4553712"/>
            <a:ext cx="2148840" cy="320040"/>
          </a:xfrm>
          <a:prstGeom prst="rect">
            <a:avLst/>
          </a:prstGeom>
          <a:noFill/>
        </p:spPr>
        <p:txBody>
          <a:bodyPr wrap="none">
            <a:spAutoFit/>
          </a:bodyPr>
          <a:lstStyle/>
          <a:p>
            <a:r>
              <a:rPr sz="100" b="1">
                <a:solidFill>
                  <a:srgbClr val="142B4C"/>
                </a:solidFill>
                <a:latin typeface="Aptos"/>
              </a:rPr>
              <a:t/>
            </a:r>
          </a:p>
        </p:txBody>
      </p:sp>
      <p:sp>
        <p:nvSpPr>
          <p:cNvPr id="36" name="TextBox 35"/>
          <p:cNvSpPr txBox="1"/>
          <p:nvPr/>
        </p:nvSpPr>
        <p:spPr>
          <a:xfrm>
            <a:off x="6007607" y="4956048"/>
            <a:ext cx="2148840" cy="-27432"/>
          </a:xfrm>
          <a:prstGeom prst="rect">
            <a:avLst/>
          </a:prstGeom>
          <a:noFill/>
        </p:spPr>
        <p:txBody>
          <a:bodyPr wrap="square" lIns="0" rIns="0">
            <a:spAutoFit/>
          </a:bodyPr>
          <a:lstStyle/>
          <a:p>
            <a:r>
              <a:rPr sz="1100">
                <a:solidFill>
                  <a:srgbClr val="23272D"/>
                </a:solidFill>
                <a:latin typeface="Aptos"/>
              </a:rPr>
              <a:t>Database Layer
INSERT/SEARCH/UPDATE/DELETE</a:t>
            </a:r>
          </a:p>
        </p:txBody>
      </p:sp>
      <p:sp>
        <p:nvSpPr>
          <p:cNvPr id="37" name="Rounded Rectangle 36"/>
          <p:cNvSpPr/>
          <p:nvPr/>
        </p:nvSpPr>
        <p:spPr>
          <a:xfrm>
            <a:off x="8549640" y="4407408"/>
            <a:ext cx="2514600" cy="658368"/>
          </a:xfrm>
          <a:prstGeom prst="roundRect">
            <a:avLst/>
          </a:prstGeom>
          <a:solidFill>
            <a:srgbClr val="EFEBF9"/>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549640" y="4407408"/>
            <a:ext cx="73152" cy="658368"/>
          </a:xfrm>
          <a:prstGeom prst="rect">
            <a:avLst/>
          </a:prstGeom>
          <a:solidFill>
            <a:srgbClr val="68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50808" y="4553712"/>
            <a:ext cx="2148840" cy="320040"/>
          </a:xfrm>
          <a:prstGeom prst="rect">
            <a:avLst/>
          </a:prstGeom>
          <a:noFill/>
        </p:spPr>
        <p:txBody>
          <a:bodyPr wrap="none">
            <a:spAutoFit/>
          </a:bodyPr>
          <a:lstStyle/>
          <a:p>
            <a:r>
              <a:rPr sz="100" b="1">
                <a:solidFill>
                  <a:srgbClr val="142B4C"/>
                </a:solidFill>
                <a:latin typeface="Aptos"/>
              </a:rPr>
              <a:t/>
            </a:r>
          </a:p>
        </p:txBody>
      </p:sp>
      <p:sp>
        <p:nvSpPr>
          <p:cNvPr id="40" name="TextBox 39"/>
          <p:cNvSpPr txBox="1"/>
          <p:nvPr/>
        </p:nvSpPr>
        <p:spPr>
          <a:xfrm>
            <a:off x="8750808" y="4956048"/>
            <a:ext cx="2148840" cy="-27432"/>
          </a:xfrm>
          <a:prstGeom prst="rect">
            <a:avLst/>
          </a:prstGeom>
          <a:noFill/>
        </p:spPr>
        <p:txBody>
          <a:bodyPr wrap="square" lIns="0" rIns="0">
            <a:spAutoFit/>
          </a:bodyPr>
          <a:lstStyle/>
          <a:p>
            <a:r>
              <a:rPr sz="1100">
                <a:solidFill>
                  <a:srgbClr val="23272D"/>
                </a:solidFill>
                <a:latin typeface="Aptos"/>
              </a:rPr>
              <a:t>Response Queue +
Client Response</a:t>
            </a:r>
          </a:p>
        </p:txBody>
      </p:sp>
      <p:sp>
        <p:nvSpPr>
          <p:cNvPr id="41" name="Rounded Rectangle 40"/>
          <p:cNvSpPr/>
          <p:nvPr/>
        </p:nvSpPr>
        <p:spPr>
          <a:xfrm>
            <a:off x="731520" y="2788920"/>
            <a:ext cx="3840480" cy="1417320"/>
          </a:xfrm>
          <a:prstGeom prst="roundRect">
            <a:avLst/>
          </a:prstGeom>
          <a:solidFill>
            <a:srgbClr val="E1F4F2"/>
          </a:solidFill>
          <a:ln w="25400">
            <a:solidFill>
              <a:srgbClr val="2689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063240"/>
            <a:ext cx="3200400" cy="320040"/>
          </a:xfrm>
          <a:prstGeom prst="rect">
            <a:avLst/>
          </a:prstGeom>
          <a:noFill/>
        </p:spPr>
        <p:txBody>
          <a:bodyPr wrap="none" anchor="ctr">
            <a:spAutoFit/>
          </a:bodyPr>
          <a:lstStyle/>
          <a:p>
            <a:pPr algn="ctr"/>
            <a:r>
              <a:rPr sz="1500" b="1">
                <a:solidFill>
                  <a:srgbClr val="142B4C"/>
                </a:solidFill>
                <a:latin typeface="Aptos"/>
              </a:rPr>
              <a:t>MEMORY-MAPPED DATABASE</a:t>
            </a:r>
          </a:p>
        </p:txBody>
      </p:sp>
      <p:sp>
        <p:nvSpPr>
          <p:cNvPr id="43" name="TextBox 42"/>
          <p:cNvSpPr txBox="1"/>
          <p:nvPr/>
        </p:nvSpPr>
        <p:spPr>
          <a:xfrm>
            <a:off x="1051560" y="3429000"/>
            <a:ext cx="3200400" cy="548640"/>
          </a:xfrm>
          <a:prstGeom prst="rect">
            <a:avLst/>
          </a:prstGeom>
          <a:noFill/>
        </p:spPr>
        <p:txBody>
          <a:bodyPr wrap="none" anchor="ctr">
            <a:spAutoFit/>
          </a:bodyPr>
          <a:lstStyle/>
          <a:p>
            <a:pPr algn="ctr"/>
            <a:r>
              <a:rPr sz="1100" b="0">
                <a:solidFill>
                  <a:srgbClr val="23272D"/>
                </a:solidFill>
                <a:latin typeface="Aptos"/>
              </a:rPr>
              <a:t>mmap() • persistent student records
marks • attendance • course data</a:t>
            </a:r>
          </a:p>
        </p:txBody>
      </p:sp>
      <p:cxnSp>
        <p:nvCxnSpPr>
          <p:cNvPr id="44" name="Connector 43"/>
          <p:cNvCxnSpPr/>
          <p:nvPr/>
        </p:nvCxnSpPr>
        <p:spPr>
          <a:xfrm>
            <a:off x="4572000" y="3474720"/>
            <a:ext cx="914400" cy="1261872"/>
          </a:xfrm>
          <a:prstGeom prst="line">
            <a:avLst/>
          </a:prstGeom>
          <a:ln w="25400">
            <a:solidFill>
              <a:srgbClr val="268985"/>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731520" y="4617720"/>
            <a:ext cx="1828800" cy="749808"/>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1520" y="4617720"/>
            <a:ext cx="73152" cy="749808"/>
          </a:xfrm>
          <a:prstGeom prst="rect">
            <a:avLst/>
          </a:prstGeom>
          <a:solidFill>
            <a:srgbClr val="DC8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2688" y="4764024"/>
            <a:ext cx="1463040" cy="320040"/>
          </a:xfrm>
          <a:prstGeom prst="rect">
            <a:avLst/>
          </a:prstGeom>
          <a:noFill/>
        </p:spPr>
        <p:txBody>
          <a:bodyPr wrap="none">
            <a:spAutoFit/>
          </a:bodyPr>
          <a:lstStyle/>
          <a:p>
            <a:r>
              <a:rPr sz="1200" b="1">
                <a:solidFill>
                  <a:srgbClr val="142B4C"/>
                </a:solidFill>
                <a:latin typeface="Aptos"/>
              </a:rPr>
              <a:t>Activity Log</a:t>
            </a:r>
          </a:p>
        </p:txBody>
      </p:sp>
      <p:sp>
        <p:nvSpPr>
          <p:cNvPr id="48" name="TextBox 47"/>
          <p:cNvSpPr txBox="1"/>
          <p:nvPr/>
        </p:nvSpPr>
        <p:spPr>
          <a:xfrm>
            <a:off x="932688" y="5166359"/>
            <a:ext cx="1463040" cy="64007"/>
          </a:xfrm>
          <a:prstGeom prst="rect">
            <a:avLst/>
          </a:prstGeom>
          <a:noFill/>
        </p:spPr>
        <p:txBody>
          <a:bodyPr wrap="square" lIns="0" rIns="0">
            <a:spAutoFit/>
          </a:bodyPr>
          <a:lstStyle/>
          <a:p>
            <a:r>
              <a:rPr sz="950">
                <a:solidFill>
                  <a:srgbClr val="23272D"/>
                </a:solidFill>
                <a:latin typeface="Aptos"/>
              </a:rPr>
              <a:t>Transactions + server events</a:t>
            </a:r>
          </a:p>
        </p:txBody>
      </p:sp>
      <p:sp>
        <p:nvSpPr>
          <p:cNvPr id="49" name="Rounded Rectangle 48"/>
          <p:cNvSpPr/>
          <p:nvPr/>
        </p:nvSpPr>
        <p:spPr>
          <a:xfrm>
            <a:off x="2697480" y="4617720"/>
            <a:ext cx="1828800" cy="749808"/>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697480" y="4617720"/>
            <a:ext cx="73152" cy="749808"/>
          </a:xfrm>
          <a:prstGeom prst="rect">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8648" y="4764024"/>
            <a:ext cx="1463040" cy="320040"/>
          </a:xfrm>
          <a:prstGeom prst="rect">
            <a:avLst/>
          </a:prstGeom>
          <a:noFill/>
        </p:spPr>
        <p:txBody>
          <a:bodyPr wrap="none">
            <a:spAutoFit/>
          </a:bodyPr>
          <a:lstStyle/>
          <a:p>
            <a:r>
              <a:rPr sz="1200" b="1">
                <a:solidFill>
                  <a:srgbClr val="142B4C"/>
                </a:solidFill>
                <a:latin typeface="Aptos"/>
              </a:rPr>
              <a:t>Signals</a:t>
            </a:r>
          </a:p>
        </p:txBody>
      </p:sp>
      <p:sp>
        <p:nvSpPr>
          <p:cNvPr id="52" name="TextBox 51"/>
          <p:cNvSpPr txBox="1"/>
          <p:nvPr/>
        </p:nvSpPr>
        <p:spPr>
          <a:xfrm>
            <a:off x="2898648" y="5166359"/>
            <a:ext cx="1463040" cy="64007"/>
          </a:xfrm>
          <a:prstGeom prst="rect">
            <a:avLst/>
          </a:prstGeom>
          <a:noFill/>
        </p:spPr>
        <p:txBody>
          <a:bodyPr wrap="square" lIns="0" rIns="0">
            <a:spAutoFit/>
          </a:bodyPr>
          <a:lstStyle/>
          <a:p>
            <a:r>
              <a:rPr sz="950">
                <a:solidFill>
                  <a:srgbClr val="23272D"/>
                </a:solidFill>
                <a:latin typeface="Aptos"/>
              </a:rPr>
              <a:t>Reload + controlled shutdown</a:t>
            </a:r>
          </a:p>
        </p:txBody>
      </p:sp>
      <p:sp>
        <p:nvSpPr>
          <p:cNvPr id="53" name="Rounded Rectangle 52"/>
          <p:cNvSpPr/>
          <p:nvPr/>
        </p:nvSpPr>
        <p:spPr>
          <a:xfrm>
            <a:off x="731520" y="5532120"/>
            <a:ext cx="3794760" cy="566928"/>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31520" y="5532120"/>
            <a:ext cx="73152" cy="566928"/>
          </a:xfrm>
          <a:prstGeom prst="rect">
            <a:avLst/>
          </a:prstGeom>
          <a:solidFill>
            <a:srgbClr val="26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2688" y="5678424"/>
            <a:ext cx="3429000" cy="320040"/>
          </a:xfrm>
          <a:prstGeom prst="rect">
            <a:avLst/>
          </a:prstGeom>
          <a:noFill/>
        </p:spPr>
        <p:txBody>
          <a:bodyPr wrap="none">
            <a:spAutoFit/>
          </a:bodyPr>
          <a:lstStyle/>
          <a:p>
            <a:r>
              <a:rPr sz="1200" b="1">
                <a:solidFill>
                  <a:srgbClr val="142B4C"/>
                </a:solidFill>
                <a:latin typeface="Aptos"/>
              </a:rPr>
              <a:t>Monitoring</a:t>
            </a:r>
          </a:p>
        </p:txBody>
      </p:sp>
      <p:sp>
        <p:nvSpPr>
          <p:cNvPr id="56" name="TextBox 55"/>
          <p:cNvSpPr txBox="1"/>
          <p:nvPr/>
        </p:nvSpPr>
        <p:spPr>
          <a:xfrm>
            <a:off x="932688" y="6080759"/>
            <a:ext cx="3429000" cy="-118872"/>
          </a:xfrm>
          <a:prstGeom prst="rect">
            <a:avLst/>
          </a:prstGeom>
          <a:noFill/>
        </p:spPr>
        <p:txBody>
          <a:bodyPr wrap="square" lIns="0" rIns="0">
            <a:spAutoFit/>
          </a:bodyPr>
          <a:lstStyle/>
          <a:p>
            <a:r>
              <a:rPr sz="950">
                <a:solidFill>
                  <a:srgbClr val="23272D"/>
                </a:solidFill>
                <a:latin typeface="Aptos"/>
              </a:rPr>
              <a:t>Active clients • queue size • resource/server status</a:t>
            </a:r>
          </a:p>
        </p:txBody>
      </p:sp>
      <p:sp>
        <p:nvSpPr>
          <p:cNvPr id="57" name="TextBox 56"/>
          <p:cNvSpPr txBox="1"/>
          <p:nvPr/>
        </p:nvSpPr>
        <p:spPr>
          <a:xfrm>
            <a:off x="3794760" y="2103120"/>
            <a:ext cx="1051560" cy="274320"/>
          </a:xfrm>
          <a:prstGeom prst="rect">
            <a:avLst/>
          </a:prstGeom>
          <a:noFill/>
        </p:spPr>
        <p:txBody>
          <a:bodyPr wrap="none" anchor="ctr">
            <a:spAutoFit/>
          </a:bodyPr>
          <a:lstStyle/>
          <a:p>
            <a:pPr algn="ctr"/>
            <a:r>
              <a:rPr sz="1000" b="1">
                <a:solidFill>
                  <a:srgbClr val="2C65B0"/>
                </a:solidFill>
                <a:latin typeface="Aptos"/>
              </a:rPr>
              <a:t>Requests</a:t>
            </a:r>
          </a:p>
        </p:txBody>
      </p:sp>
      <p:sp>
        <p:nvSpPr>
          <p:cNvPr id="58" name="TextBox 57"/>
          <p:cNvSpPr txBox="1"/>
          <p:nvPr/>
        </p:nvSpPr>
        <p:spPr>
          <a:xfrm>
            <a:off x="3794760" y="4160520"/>
            <a:ext cx="1051560" cy="274320"/>
          </a:xfrm>
          <a:prstGeom prst="rect">
            <a:avLst/>
          </a:prstGeom>
          <a:noFill/>
        </p:spPr>
        <p:txBody>
          <a:bodyPr wrap="none" anchor="ctr">
            <a:spAutoFit/>
          </a:bodyPr>
          <a:lstStyle/>
          <a:p>
            <a:pPr algn="ctr"/>
            <a:r>
              <a:rPr sz="1000" b="1">
                <a:solidFill>
                  <a:srgbClr val="268985"/>
                </a:solidFill>
                <a:latin typeface="Aptos"/>
              </a:rPr>
              <a:t>Responses</a:t>
            </a:r>
          </a:p>
        </p:txBody>
      </p:sp>
      <p:sp>
        <p:nvSpPr>
          <p:cNvPr id="59" name="Rectangle 58"/>
          <p:cNvSpPr/>
          <p:nvPr/>
        </p:nvSpPr>
        <p:spPr>
          <a:xfrm>
            <a:off x="594360" y="6537960"/>
            <a:ext cx="10972800" cy="18288"/>
          </a:xfrm>
          <a:prstGeom prst="rect">
            <a:avLst/>
          </a:prstGeom>
          <a:solidFill>
            <a:srgbClr val="D7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789920" y="6565392"/>
            <a:ext cx="731520" cy="182880"/>
          </a:xfrm>
          <a:prstGeom prst="rect">
            <a:avLst/>
          </a:prstGeom>
          <a:noFill/>
        </p:spPr>
        <p:txBody>
          <a:bodyPr wrap="none">
            <a:spAutoFit/>
          </a:bodyPr>
          <a:lstStyle/>
          <a:p>
            <a:pPr algn="r"/>
            <a:r>
              <a:rPr sz="900">
                <a:solidFill>
                  <a:srgbClr val="5C646E"/>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10972800" cy="594360"/>
          </a:xfrm>
          <a:prstGeom prst="rect">
            <a:avLst/>
          </a:prstGeom>
          <a:noFill/>
        </p:spPr>
        <p:txBody>
          <a:bodyPr wrap="none">
            <a:spAutoFit/>
          </a:bodyPr>
          <a:lstStyle/>
          <a:p>
            <a:r>
              <a:rPr sz="2700" b="1">
                <a:solidFill>
                  <a:srgbClr val="142B4C"/>
                </a:solidFill>
                <a:latin typeface="Aptos Display"/>
              </a:rPr>
              <a:t>Conclusion</a:t>
            </a:r>
          </a:p>
        </p:txBody>
      </p:sp>
      <p:sp>
        <p:nvSpPr>
          <p:cNvPr id="5" name="TextBox 4"/>
          <p:cNvSpPr txBox="1"/>
          <p:nvPr/>
        </p:nvSpPr>
        <p:spPr>
          <a:xfrm>
            <a:off x="621792" y="896112"/>
            <a:ext cx="10789920" cy="365760"/>
          </a:xfrm>
          <a:prstGeom prst="rect">
            <a:avLst/>
          </a:prstGeom>
          <a:noFill/>
        </p:spPr>
        <p:txBody>
          <a:bodyPr wrap="none">
            <a:spAutoFit/>
          </a:bodyPr>
          <a:lstStyle/>
          <a:p>
            <a:r>
              <a:rPr sz="1200">
                <a:solidFill>
                  <a:srgbClr val="5C646E"/>
                </a:solidFill>
                <a:latin typeface="Aptos"/>
              </a:rPr>
              <a:t>How the system addresses the database concurrency problem.</a:t>
            </a:r>
          </a:p>
        </p:txBody>
      </p:sp>
      <p:sp>
        <p:nvSpPr>
          <p:cNvPr id="6" name="Rounded Rectangle 5"/>
          <p:cNvSpPr/>
          <p:nvPr/>
        </p:nvSpPr>
        <p:spPr>
          <a:xfrm>
            <a:off x="731520" y="1325880"/>
            <a:ext cx="3383280" cy="150876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25880"/>
            <a:ext cx="73152" cy="1508760"/>
          </a:xfrm>
          <a:prstGeom prst="rect">
            <a:avLst/>
          </a:prstGeom>
          <a:solidFill>
            <a:srgbClr val="2C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472184"/>
            <a:ext cx="3017520" cy="320040"/>
          </a:xfrm>
          <a:prstGeom prst="rect">
            <a:avLst/>
          </a:prstGeom>
          <a:noFill/>
        </p:spPr>
        <p:txBody>
          <a:bodyPr wrap="none">
            <a:spAutoFit/>
          </a:bodyPr>
          <a:lstStyle/>
          <a:p>
            <a:r>
              <a:rPr sz="1600" b="1">
                <a:solidFill>
                  <a:srgbClr val="142B4C"/>
                </a:solidFill>
                <a:latin typeface="Aptos"/>
              </a:rPr>
              <a:t>Concurrent &amp; Responsive</a:t>
            </a:r>
          </a:p>
        </p:txBody>
      </p:sp>
      <p:sp>
        <p:nvSpPr>
          <p:cNvPr id="9" name="TextBox 8"/>
          <p:cNvSpPr txBox="1"/>
          <p:nvPr/>
        </p:nvSpPr>
        <p:spPr>
          <a:xfrm>
            <a:off x="932688" y="1874519"/>
            <a:ext cx="3017520" cy="822959"/>
          </a:xfrm>
          <a:prstGeom prst="rect">
            <a:avLst/>
          </a:prstGeom>
          <a:noFill/>
        </p:spPr>
        <p:txBody>
          <a:bodyPr wrap="square" lIns="0" rIns="0">
            <a:spAutoFit/>
          </a:bodyPr>
          <a:lstStyle/>
          <a:p>
            <a:r>
              <a:rPr sz="1200">
                <a:solidFill>
                  <a:srgbClr val="23272D"/>
                </a:solidFill>
                <a:latin typeface="Aptos"/>
              </a:rPr>
              <a:t>The server can accept requests from multiple clients and distribute work among worker threads, improving responsiveness under concurrent access.</a:t>
            </a:r>
          </a:p>
        </p:txBody>
      </p:sp>
      <p:sp>
        <p:nvSpPr>
          <p:cNvPr id="10" name="Rounded Rectangle 9"/>
          <p:cNvSpPr/>
          <p:nvPr/>
        </p:nvSpPr>
        <p:spPr>
          <a:xfrm>
            <a:off x="4389120" y="1325880"/>
            <a:ext cx="3383280" cy="150876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325880"/>
            <a:ext cx="73152" cy="1508760"/>
          </a:xfrm>
          <a:prstGeom prst="rect">
            <a:avLst/>
          </a:prstGeom>
          <a:solidFill>
            <a:srgbClr val="26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1472184"/>
            <a:ext cx="3017520" cy="320040"/>
          </a:xfrm>
          <a:prstGeom prst="rect">
            <a:avLst/>
          </a:prstGeom>
          <a:noFill/>
        </p:spPr>
        <p:txBody>
          <a:bodyPr wrap="none">
            <a:spAutoFit/>
          </a:bodyPr>
          <a:lstStyle/>
          <a:p>
            <a:r>
              <a:rPr sz="1600" b="1">
                <a:solidFill>
                  <a:srgbClr val="142B4C"/>
                </a:solidFill>
                <a:latin typeface="Aptos"/>
              </a:rPr>
              <a:t>Safe Shared Access</a:t>
            </a:r>
          </a:p>
        </p:txBody>
      </p:sp>
      <p:sp>
        <p:nvSpPr>
          <p:cNvPr id="13" name="TextBox 12"/>
          <p:cNvSpPr txBox="1"/>
          <p:nvPr/>
        </p:nvSpPr>
        <p:spPr>
          <a:xfrm>
            <a:off x="4590288" y="1874519"/>
            <a:ext cx="3017520" cy="822959"/>
          </a:xfrm>
          <a:prstGeom prst="rect">
            <a:avLst/>
          </a:prstGeom>
          <a:noFill/>
        </p:spPr>
        <p:txBody>
          <a:bodyPr wrap="square" lIns="0" rIns="0">
            <a:spAutoFit/>
          </a:bodyPr>
          <a:lstStyle/>
          <a:p>
            <a:r>
              <a:rPr sz="1200">
                <a:solidFill>
                  <a:srgbClr val="23272D"/>
                </a:solidFill>
                <a:latin typeface="Aptos"/>
              </a:rPr>
              <a:t>Mutexes and semaphores coordinate access to shared queues, database structures and resources, reducing the risk of race conditions.</a:t>
            </a:r>
          </a:p>
        </p:txBody>
      </p:sp>
      <p:sp>
        <p:nvSpPr>
          <p:cNvPr id="14" name="Rounded Rectangle 13"/>
          <p:cNvSpPr/>
          <p:nvPr/>
        </p:nvSpPr>
        <p:spPr>
          <a:xfrm>
            <a:off x="8046720" y="1325880"/>
            <a:ext cx="3383280" cy="1508760"/>
          </a:xfrm>
          <a:prstGeom prst="roundRect">
            <a:avLst/>
          </a:prstGeom>
          <a:solidFill>
            <a:srgbClr val="FFFFFF"/>
          </a:solidFill>
          <a:ln w="12700">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325880"/>
            <a:ext cx="73152" cy="1508760"/>
          </a:xfrm>
          <a:prstGeom prst="rect">
            <a:avLst/>
          </a:prstGeom>
          <a:solidFill>
            <a:srgbClr val="DC8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472184"/>
            <a:ext cx="3017520" cy="320040"/>
          </a:xfrm>
          <a:prstGeom prst="rect">
            <a:avLst/>
          </a:prstGeom>
          <a:noFill/>
        </p:spPr>
        <p:txBody>
          <a:bodyPr wrap="none">
            <a:spAutoFit/>
          </a:bodyPr>
          <a:lstStyle/>
          <a:p>
            <a:r>
              <a:rPr sz="1600" b="1">
                <a:solidFill>
                  <a:srgbClr val="142B4C"/>
                </a:solidFill>
                <a:latin typeface="Aptos"/>
              </a:rPr>
              <a:t>Efficient &amp; Manageable</a:t>
            </a:r>
          </a:p>
        </p:txBody>
      </p:sp>
      <p:sp>
        <p:nvSpPr>
          <p:cNvPr id="17" name="TextBox 16"/>
          <p:cNvSpPr txBox="1"/>
          <p:nvPr/>
        </p:nvSpPr>
        <p:spPr>
          <a:xfrm>
            <a:off x="8247888" y="1874519"/>
            <a:ext cx="3017520" cy="822959"/>
          </a:xfrm>
          <a:prstGeom prst="rect">
            <a:avLst/>
          </a:prstGeom>
          <a:noFill/>
        </p:spPr>
        <p:txBody>
          <a:bodyPr wrap="square" lIns="0" rIns="0">
            <a:spAutoFit/>
          </a:bodyPr>
          <a:lstStyle/>
          <a:p>
            <a:r>
              <a:rPr sz="1200">
                <a:solidFill>
                  <a:srgbClr val="23272D"/>
                </a:solidFill>
                <a:latin typeface="Aptos"/>
              </a:rPr>
              <a:t>Memory mapping, activity logging, monitoring and signal handling provide efficient storage access and practical server administration.</a:t>
            </a:r>
          </a:p>
        </p:txBody>
      </p:sp>
      <p:sp>
        <p:nvSpPr>
          <p:cNvPr id="18" name="TextBox 17"/>
          <p:cNvSpPr txBox="1"/>
          <p:nvPr/>
        </p:nvSpPr>
        <p:spPr>
          <a:xfrm>
            <a:off x="868680" y="3246120"/>
            <a:ext cx="10424160" cy="2468880"/>
          </a:xfrm>
          <a:prstGeom prst="rect">
            <a:avLst/>
          </a:prstGeom>
          <a:noFill/>
        </p:spPr>
        <p:txBody>
          <a:bodyPr wrap="square">
            <a:spAutoFit/>
          </a:bodyPr>
          <a:lstStyle/>
          <a:p>
            <a:pPr>
              <a:spcAft>
                <a:spcPts val="900"/>
              </a:spcAft>
              <a:defRPr sz="1500" b="0">
                <a:solidFill>
                  <a:srgbClr val="23272D"/>
                </a:solidFill>
                <a:latin typeface="Aptos"/>
              </a:defRPr>
            </a:pPr>
            <a:r>
              <a:t>The project demonstrates how operating-system concepts can be combined to build a practical networked database service.</a:t>
            </a:r>
          </a:p>
          <a:p>
            <a:pPr>
              <a:spcAft>
                <a:spcPts val="900"/>
              </a:spcAft>
              <a:defRPr sz="1500" b="0">
                <a:solidFill>
                  <a:srgbClr val="23272D"/>
                </a:solidFill>
                <a:latin typeface="Aptos"/>
              </a:defRPr>
            </a:pPr>
            <a:r>
              <a:t>TCP sockets provide communication; POSIX threads provide concurrency; synchronization primitives maintain consistency.</a:t>
            </a:r>
          </a:p>
          <a:p>
            <a:pPr>
              <a:spcAft>
                <a:spcPts val="900"/>
              </a:spcAft>
              <a:defRPr sz="1500" b="0">
                <a:solidFill>
                  <a:srgbClr val="23272D"/>
                </a:solidFill>
                <a:latin typeface="Aptos"/>
              </a:defRPr>
            </a:pPr>
            <a:r>
              <a:t>CRUD operations demonstrate the core database functionality required by faculty and administrative clients.</a:t>
            </a:r>
          </a:p>
          <a:p>
            <a:pPr>
              <a:spcAft>
                <a:spcPts val="900"/>
              </a:spcAft>
              <a:defRPr sz="1500" b="0">
                <a:solidFill>
                  <a:srgbClr val="23272D"/>
                </a:solidFill>
                <a:latin typeface="Aptos"/>
              </a:defRPr>
            </a:pPr>
            <a:r>
              <a:t>mmap() demonstrates efficient access to frequently used persistent data.</a:t>
            </a:r>
          </a:p>
          <a:p>
            <a:pPr>
              <a:spcAft>
                <a:spcPts val="900"/>
              </a:spcAft>
              <a:defRPr sz="1500" b="0">
                <a:solidFill>
                  <a:srgbClr val="23272D"/>
                </a:solidFill>
                <a:latin typeface="Aptos"/>
              </a:defRPr>
            </a:pPr>
            <a:r>
              <a:t>Logging, monitoring and signal handling improve observability and controlled server operation.</a:t>
            </a:r>
          </a:p>
          <a:p>
            <a:pPr>
              <a:spcAft>
                <a:spcPts val="900"/>
              </a:spcAft>
              <a:defRPr sz="1500" b="0">
                <a:solidFill>
                  <a:srgbClr val="23272D"/>
                </a:solidFill>
                <a:latin typeface="Aptos"/>
              </a:defRPr>
            </a:pPr>
            <a:r>
              <a:t>The design can be extended with authentication, role-based access, richer queries, backup/recovery, or a graphical client.</a:t>
            </a:r>
          </a:p>
        </p:txBody>
      </p:sp>
      <p:sp>
        <p:nvSpPr>
          <p:cNvPr id="19" name="TextBox 18"/>
          <p:cNvSpPr txBox="1"/>
          <p:nvPr/>
        </p:nvSpPr>
        <p:spPr>
          <a:xfrm>
            <a:off x="4572000" y="5897880"/>
            <a:ext cx="3017520" cy="457200"/>
          </a:xfrm>
          <a:prstGeom prst="rect">
            <a:avLst/>
          </a:prstGeom>
          <a:noFill/>
        </p:spPr>
        <p:txBody>
          <a:bodyPr wrap="none" anchor="ctr">
            <a:spAutoFit/>
          </a:bodyPr>
          <a:lstStyle/>
          <a:p>
            <a:pPr algn="ctr"/>
            <a:r>
              <a:rPr sz="2200" b="1">
                <a:solidFill>
                  <a:srgbClr val="142B4C"/>
                </a:solidFill>
                <a:latin typeface="Aptos"/>
              </a:rPr>
              <a:t>Thank You</a:t>
            </a:r>
          </a:p>
        </p:txBody>
      </p:sp>
      <p:sp>
        <p:nvSpPr>
          <p:cNvPr id="20" name="Rectangle 19"/>
          <p:cNvSpPr/>
          <p:nvPr/>
        </p:nvSpPr>
        <p:spPr>
          <a:xfrm>
            <a:off x="594360" y="6537960"/>
            <a:ext cx="10972800" cy="18288"/>
          </a:xfrm>
          <a:prstGeom prst="rect">
            <a:avLst/>
          </a:prstGeom>
          <a:solidFill>
            <a:srgbClr val="D7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89920" y="6565392"/>
            <a:ext cx="731520" cy="182880"/>
          </a:xfrm>
          <a:prstGeom prst="rect">
            <a:avLst/>
          </a:prstGeom>
          <a:noFill/>
        </p:spPr>
        <p:txBody>
          <a:bodyPr wrap="none">
            <a:spAutoFit/>
          </a:bodyPr>
          <a:lstStyle/>
          <a:p>
            <a:pPr algn="r"/>
            <a:r>
              <a:rPr sz="900">
                <a:solidFill>
                  <a:srgbClr val="5C646E"/>
                </a:solidFill>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